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and welcome to our presentation on PasswordGuard: An Experimental Analysis of Password Strength and Authentication Security. Before we start, let me ask our audience a quick question: Which of these two passwords do you think is stronger? Option A: P@ssw0rd123, with symbols and numbers, or Option B: correct-horse-battery-staple, four simple lowercase words? Many people instinctively choose Option A because of the special characters. However, as we will explore today, Option B has a vastly larger mathematical search space. Let us examine why password security remains such a critical challenge.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is password security such an enduring problem? Modern users manage dozens of accounts. Because truly random strings are hard to memorize, users predictably take cognitive shortcuts—reusing passwords or adding simple substitutions like an exclamation mark at the end. Meanwhile, attackers exploit leaked wordlists and automated botnets. Even worse, traditional complexity rules produced an illusion of security: people wrote passwords like 'Summer2024!', which modern attack tools crack almost instantly. PasswordGuard was created to make these mathematical realities transparent and accessible through hands-on interaction.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passwords work mathematically? In the prover-verifier model, the server stores a cryptographic verifier, not plaintext. If an attacker performs brute-force guessing, the theoretical search space equals R to the power of L, where R is the character pool and L is length. Notice that length is the exponent! Look at the comparison on the right: an 8-character password using all 95 printable characters yields about 6.6 times 10 to the 15th combinations. At an assumed rate of 10 to the 11th guesses per second, that could be tested in roughly 9 hours. In contrast, a 28-character passphrase using only lowercase letters and hyphens yields 1.2 times 10 to the 40th combinations—taking over 10 to the 21st years. Length dominates character variety.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examine how passwords are attacked and defended. In the real world, attackers rarely try every character uniformly. Instead, they run dictionary words through mutation rules, replay breached passwords in automated credential-stuffing attacks, and crack leaked database dumps offline on GPU clusters. Phishing bypasses password complexity entirely. This proves that password security is not the same as authentication security. A resilient defense requires defense in depth: users must adopt password managers to keep credentials unique, enable Multi-Factor Authentication so stolen passwords alone are insufficient, and servers must employ slow memory-hard hashing like Argon2id alongside strict rate limiting.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explore these concepts practically, we designed and built PasswordGuard. PasswordGuard is a single-page web application built with React, TypeScript, and Vite. A critical design choice was our client-side processing model: all password evaluation, entropy estimation, and hashing occur locally in the browser memory context. There is no application backend, no external database, and no network logging. Users can safely test example passwords without third-party exposure. For cryptographic operations, we interface directly with the browser's native Web Crypto API.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PasswordGuard evaluate password strength? We implement two distinct metrics. First, a transparent heuristic score from 0 to 100. It awards points for length and character sets, adds bonuses for diversity and multi-word passphrases, and deducts targeted penalties for sequential runs, repetitions, and dictionary roots. The score classifies passwords into Weak, Medium, or Strong. Second, we calculate a theoretical character-space entropy estimate in bits, assuming uniform random selection. To make this intuitive, we project illustrative search times across three assumed guessing scenarios: 100 guesses per second for rate-limited online logins, 10 million per second for offline CPU attacks, and 100 billion per second for GPU rigs targeting fast hashes. We emphasize that these are educational mathematical projections, not hardware benchmarks.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let us examine how servers protect passwords during storage. Passwords should never be stored in plain text. A cryptographic hash is a one-way transformation that maps arbitrary input to a fixed-length digest. We also demonstrate the necessity of cryptographic salts. By appending a unique 16-byte random salt to each password, two identical passwords produce completely different digests. This completely neutralizes precomputed rainbow table lookups. However, we must state an important security distinction: SHA-256 is used in PasswordGuard solely for educational clarity. Because SHA-256 is designed to be fast, production authentication backends should never use raw SHA-256. Production systems must use slow, memory-hard key derivation functions like Argon2id or bcrypt.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test our scoring heuristic systematically, we conducted a controlled experiment. In accordance with research ethics principles, we did not use real user credentials or breached password dumps. Instead, we constructed a synthetic dataset of 150 passwords partitioned into five distinct structural categories of 30 samples each. Category A represents short simple words. Category B reflects common human patterns with dictionary roots and appended numbers. Category C represents enterprise complexity guidelines. Category D contains long multi-word passphrases. And Category E consists of 16-character pseudo-random strings across all character sets. We evaluated all 150 samples to observe how consistently our heuristic behaves across these structures.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quantitative results from our frozen experiment. Across the 150 synthetic samples, 59 were classified as Weak, 12 as Medium, and 79 as Strong by our heuristic. As seen in the chart, Category E achieved the highest average score of 90.0, with 100% rated Strong. Category D, the long passphrases, achieved the highest theoretical entropy estimate of 182.9 bits, with 70% Strong and 30% Medium. In contrast, look at Category B: even though these passwords contained uppercase letters, digits, and exclamation marks, their average score plummeted to 10.5, with 96.7% rated Weak. This confirms that our heuristic successfully penalizes predictable patterns rather than relying on superficial character checks. Category A averaged only 2.0, correctly reflecting tiny search spaces.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must emphasize our project's academic limitations. Because the scoring rules and evaluation engine share the same heuristic, our experiment evaluates internal rule consistency rather than real-world cracking immunity. Our synthetic dataset and uniform entropy calculations are educational models. Nonetheless, the core takeaways are clear: first, password length dominates character variety through exponential growth. Second, superficial complexity like 'Password123!' fails against modern attack tools. And third, authentic authentication security requires defense in depth—combining memorable passphrases with password managers, slow memory-hard hashing like Argon2id, and universal Multi-Factor Authentication. Thank you very much for your time and attention. We are now ready to answer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40080"/>
            <a:ext cx="10362895" cy="320040"/>
          </a:xfrm>
          <a:prstGeom prst="rect">
            <a:avLst/>
          </a:prstGeom>
          <a:noFill/>
        </p:spPr>
        <p:txBody>
          <a:bodyPr wrap="none">
            <a:spAutoFit/>
          </a:bodyPr>
          <a:lstStyle/>
          <a:p>
            <a:pPr>
              <a:defRPr sz="1100" b="1" i="0">
                <a:solidFill>
                  <a:srgbClr val="00F5D4"/>
                </a:solidFill>
                <a:latin typeface="Arial"/>
              </a:defRPr>
            </a:pPr>
            <a:r>
              <a:t>ENGLISH WRITING &amp; PRESENTATION SKILLS — FINAL ORAL DEFENSE</a:t>
            </a:r>
          </a:p>
        </p:txBody>
      </p:sp>
      <p:sp>
        <p:nvSpPr>
          <p:cNvPr id="4" name="TextBox 3"/>
          <p:cNvSpPr txBox="1"/>
          <p:nvPr/>
        </p:nvSpPr>
        <p:spPr>
          <a:xfrm>
            <a:off x="914400" y="1051560"/>
            <a:ext cx="10362895" cy="1280160"/>
          </a:xfrm>
          <a:prstGeom prst="rect">
            <a:avLst/>
          </a:prstGeom>
          <a:noFill/>
        </p:spPr>
        <p:txBody>
          <a:bodyPr wrap="square">
            <a:spAutoFit/>
          </a:bodyPr>
          <a:lstStyle/>
          <a:p>
            <a:pPr>
              <a:defRPr sz="2800" b="1" i="0">
                <a:solidFill>
                  <a:srgbClr val="F5F7FA"/>
                </a:solidFill>
                <a:latin typeface="Arial"/>
              </a:defRPr>
            </a:pPr>
            <a:r>
              <a:t>PasswordGuard: An Experimental Analysis of</a:t>
            </a:r>
            <a:br/>
            <a:r>
              <a:t>Password Strength and Authentication Security</a:t>
            </a:r>
          </a:p>
        </p:txBody>
      </p:sp>
      <p:sp>
        <p:nvSpPr>
          <p:cNvPr id="5" name="Rounded Rectangle 4"/>
          <p:cNvSpPr/>
          <p:nvPr/>
        </p:nvSpPr>
        <p:spPr>
          <a:xfrm>
            <a:off x="914400" y="2514600"/>
            <a:ext cx="10362895" cy="1005840"/>
          </a:xfrm>
          <a:prstGeom prst="roundRect">
            <a:avLst>
              <a:gd name="adj" fmla="val 3500"/>
            </a:avLst>
          </a:prstGeom>
          <a:solidFill>
            <a:srgbClr val="16213E"/>
          </a:solidFill>
          <a:ln w="19050">
            <a:solidFill>
              <a:srgbClr val="3C50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651760"/>
            <a:ext cx="9784080" cy="731520"/>
          </a:xfrm>
          <a:prstGeom prst="rect">
            <a:avLst/>
          </a:prstGeom>
          <a:noFill/>
        </p:spPr>
        <p:txBody>
          <a:bodyPr wrap="none">
            <a:spAutoFit/>
          </a:bodyPr>
          <a:lstStyle/>
          <a:p>
            <a:pPr>
              <a:spcAft>
                <a:spcPts val="400"/>
              </a:spcAft>
              <a:defRPr sz="1200" b="1" i="0">
                <a:solidFill>
                  <a:srgbClr val="F5F7FA"/>
                </a:solidFill>
                <a:latin typeface="Arial"/>
              </a:defRPr>
            </a:pPr>
            <a:r>
              <a:t>Student Researchers: Nguyen Duc Nhat (22001594)  •  Hoang Minh Duc (22002598)  •  Pham Tuan Phong (22002621)</a:t>
            </a:r>
          </a:p>
          <a:p>
            <a:pPr>
              <a:defRPr sz="1100" b="0" i="0">
                <a:solidFill>
                  <a:srgbClr val="A5B2C6"/>
                </a:solidFill>
                <a:latin typeface="Arial"/>
              </a:defRPr>
            </a:pPr>
            <a:r>
              <a:t>Course: English Writing and Presentation Skills  •  Framework: React 19 / TypeScript / Client-Side Web Crypto</a:t>
            </a:r>
          </a:p>
        </p:txBody>
      </p:sp>
      <p:sp>
        <p:nvSpPr>
          <p:cNvPr id="7" name="Rounded Rectangle 6"/>
          <p:cNvSpPr/>
          <p:nvPr/>
        </p:nvSpPr>
        <p:spPr>
          <a:xfrm>
            <a:off x="914400" y="3794760"/>
            <a:ext cx="10362895" cy="2468880"/>
          </a:xfrm>
          <a:prstGeom prst="roundRect">
            <a:avLst>
              <a:gd name="adj" fmla="val 3500"/>
            </a:avLst>
          </a:prstGeom>
          <a:solidFill>
            <a:srgbClr val="16213E"/>
          </a:solidFill>
          <a:ln w="19050">
            <a:solidFill>
              <a:srgbClr val="FFB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50976" y="3831336"/>
            <a:ext cx="10289743" cy="502920"/>
          </a:xfrm>
          <a:prstGeom prst="roundRect">
            <a:avLst>
              <a:gd name="adj" fmla="val 3500"/>
            </a:avLst>
          </a:prstGeom>
          <a:solidFill>
            <a:srgbClr val="1C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3904488"/>
            <a:ext cx="9814255" cy="365760"/>
          </a:xfrm>
          <a:prstGeom prst="rect">
            <a:avLst/>
          </a:prstGeom>
          <a:noFill/>
        </p:spPr>
        <p:txBody>
          <a:bodyPr wrap="square" lIns="0" tIns="0" rIns="0" bIns="0">
            <a:spAutoFit/>
          </a:bodyPr>
          <a:lstStyle/>
          <a:p>
            <a:pPr>
              <a:defRPr sz="1300" b="1">
                <a:solidFill>
                  <a:srgbClr val="FFBE0B"/>
                </a:solidFill>
                <a:latin typeface="Arial"/>
              </a:defRPr>
            </a:pPr>
            <a:r>
              <a:t>⚡ Opening Question for the Audience</a:t>
            </a:r>
          </a:p>
        </p:txBody>
      </p:sp>
      <p:sp>
        <p:nvSpPr>
          <p:cNvPr id="10" name="TextBox 9"/>
          <p:cNvSpPr txBox="1"/>
          <p:nvPr/>
        </p:nvSpPr>
        <p:spPr>
          <a:xfrm>
            <a:off x="1280160" y="4480560"/>
            <a:ext cx="9601200" cy="1645920"/>
          </a:xfrm>
          <a:prstGeom prst="rect">
            <a:avLst/>
          </a:prstGeom>
          <a:noFill/>
        </p:spPr>
        <p:txBody>
          <a:bodyPr wrap="square">
            <a:spAutoFit/>
          </a:bodyPr>
          <a:lstStyle/>
          <a:p>
            <a:pPr>
              <a:spcAft>
                <a:spcPts val="600"/>
              </a:spcAft>
              <a:defRPr sz="1400" b="1" i="0">
                <a:solidFill>
                  <a:srgbClr val="F5F7FA"/>
                </a:solidFill>
                <a:latin typeface="Arial"/>
              </a:defRPr>
            </a:pPr>
            <a:r>
              <a:t>Before we begin, which password do you believe offers stronger mathematical resistance?</a:t>
            </a:r>
          </a:p>
          <a:p>
            <a:pPr>
              <a:spcAft>
                <a:spcPts val="200"/>
              </a:spcAft>
              <a:defRPr sz="1300" b="0" i="0">
                <a:solidFill>
                  <a:srgbClr val="00F5D4"/>
                </a:solidFill>
                <a:latin typeface="Courier New"/>
              </a:defRPr>
            </a:pPr>
            <a:r>
              <a:t>   Option A:  "P@ssw0rd123"   (Traditional complexity: uppercase, number, symbol, 11 chars)</a:t>
            </a:r>
          </a:p>
          <a:p>
            <a:pPr>
              <a:spcAft>
                <a:spcPts val="800"/>
              </a:spcAft>
              <a:defRPr sz="1300" b="0" i="0">
                <a:solidFill>
                  <a:srgbClr val="00F5D4"/>
                </a:solidFill>
                <a:latin typeface="Courier New"/>
              </a:defRPr>
            </a:pPr>
            <a:r>
              <a:t>   Option B:  "correct-horse-battery-staple"   (Passphrase: 4 common lowercase words, 28 chars)</a:t>
            </a:r>
          </a:p>
          <a:p>
            <a:pPr>
              <a:defRPr sz="1100" b="0" i="1">
                <a:solidFill>
                  <a:srgbClr val="A5B2C6"/>
                </a:solidFill>
                <a:latin typeface="Arial"/>
              </a:defRPr>
            </a:pPr>
            <a:r>
              <a:t>Today, we demonstrate why intuitive human perceptions often diverge from combinatorial mathematics.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0F5D4"/>
                </a:solidFill>
                <a:latin typeface="Arial"/>
              </a:defRPr>
            </a:pPr>
            <a:r>
              <a:t>PROBLEM &amp; MOTIVATION</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200" b="1">
                <a:solidFill>
                  <a:srgbClr val="F5F7FA"/>
                </a:solidFill>
                <a:latin typeface="Arial"/>
              </a:defRPr>
            </a:pPr>
            <a:r>
              <a:t>The Problem: Human Memory vs. Combinatorial Search Spaces</a:t>
            </a:r>
          </a:p>
        </p:txBody>
      </p:sp>
      <p:sp>
        <p:nvSpPr>
          <p:cNvPr id="5" name="Rounded Rectangle 4"/>
          <p:cNvSpPr/>
          <p:nvPr/>
        </p:nvSpPr>
        <p:spPr>
          <a:xfrm>
            <a:off x="731520" y="1325880"/>
            <a:ext cx="3328416" cy="5029200"/>
          </a:xfrm>
          <a:prstGeom prst="roundRect">
            <a:avLst>
              <a:gd name="adj" fmla="val 3500"/>
            </a:avLst>
          </a:prstGeom>
          <a:solidFill>
            <a:srgbClr val="16213E"/>
          </a:solidFill>
          <a:ln w="19050">
            <a:solidFill>
              <a:srgbClr val="3A8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68096" y="1362456"/>
            <a:ext cx="3255264" cy="502920"/>
          </a:xfrm>
          <a:prstGeom prst="roundRect">
            <a:avLst>
              <a:gd name="adj" fmla="val 3500"/>
            </a:avLst>
          </a:prstGeom>
          <a:solidFill>
            <a:srgbClr val="1C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35608"/>
            <a:ext cx="2779776" cy="365760"/>
          </a:xfrm>
          <a:prstGeom prst="rect">
            <a:avLst/>
          </a:prstGeom>
          <a:noFill/>
        </p:spPr>
        <p:txBody>
          <a:bodyPr wrap="square" lIns="0" tIns="0" rIns="0" bIns="0">
            <a:spAutoFit/>
          </a:bodyPr>
          <a:lstStyle/>
          <a:p>
            <a:pPr>
              <a:defRPr sz="1300" b="1">
                <a:solidFill>
                  <a:srgbClr val="3A86FF"/>
                </a:solidFill>
                <a:latin typeface="Arial"/>
              </a:defRPr>
            </a:pPr>
            <a:r>
              <a:t>1. Human Cognitive Limits</a:t>
            </a:r>
          </a:p>
        </p:txBody>
      </p:sp>
      <p:sp>
        <p:nvSpPr>
          <p:cNvPr id="8" name="TextBox 7"/>
          <p:cNvSpPr txBox="1"/>
          <p:nvPr/>
        </p:nvSpPr>
        <p:spPr>
          <a:xfrm>
            <a:off x="914400" y="2011680"/>
            <a:ext cx="2962656" cy="4206240"/>
          </a:xfrm>
          <a:prstGeom prst="rect">
            <a:avLst/>
          </a:prstGeom>
          <a:noFill/>
        </p:spPr>
        <p:txBody>
          <a:bodyPr wrap="square">
            <a:spAutoFit/>
          </a:bodyPr>
          <a:lstStyle/>
          <a:p>
            <a:pPr>
              <a:spcAft>
                <a:spcPts val="800"/>
              </a:spcAft>
              <a:defRPr sz="1100" b="0" i="0">
                <a:solidFill>
                  <a:srgbClr val="F5F7FA"/>
                </a:solidFill>
                <a:latin typeface="Arial"/>
              </a:defRPr>
            </a:pPr>
            <a:r>
              <a:t>• Account Overload: Users manage 50 to 100 online accounts across personal and academic services.</a:t>
            </a:r>
          </a:p>
          <a:p>
            <a:pPr>
              <a:spcAft>
                <a:spcPts val="800"/>
              </a:spcAft>
              <a:defRPr sz="1100" b="0" i="0">
                <a:solidFill>
                  <a:srgbClr val="F5F7FA"/>
                </a:solidFill>
                <a:latin typeface="Arial"/>
              </a:defRPr>
            </a:pPr>
            <a:r>
              <a:t>• Memory Constraints: Random, high-entropy character strings are cognitively difficult for humans to retain.</a:t>
            </a:r>
          </a:p>
          <a:p>
            <a:pPr>
              <a:spcAft>
                <a:spcPts val="800"/>
              </a:spcAft>
              <a:defRPr sz="1100" b="0" i="0">
                <a:solidFill>
                  <a:srgbClr val="F5F7FA"/>
                </a:solidFill>
                <a:latin typeface="Arial"/>
              </a:defRPr>
            </a:pPr>
            <a:r>
              <a:t>• Predictable Shortcuts: Users predictably fall back on simple dictionary roots, birthdays, and repeated substitutions (e.g., 'a' -&gt; '@').</a:t>
            </a:r>
          </a:p>
          <a:p>
            <a:pPr>
              <a:defRPr sz="1100" b="0" i="0">
                <a:solidFill>
                  <a:srgbClr val="F5F7FA"/>
                </a:solidFill>
                <a:latin typeface="Arial"/>
              </a:defRPr>
            </a:pPr>
            <a:r>
              <a:t>• Credential Reuse: The same root password is frequently reused across multiple websites, creating cascading breach risks.</a:t>
            </a:r>
          </a:p>
        </p:txBody>
      </p:sp>
      <p:sp>
        <p:nvSpPr>
          <p:cNvPr id="9" name="Rounded Rectangle 8"/>
          <p:cNvSpPr/>
          <p:nvPr/>
        </p:nvSpPr>
        <p:spPr>
          <a:xfrm>
            <a:off x="4425696" y="1325880"/>
            <a:ext cx="3328416" cy="5029200"/>
          </a:xfrm>
          <a:prstGeom prst="roundRect">
            <a:avLst>
              <a:gd name="adj" fmla="val 3500"/>
            </a:avLst>
          </a:prstGeom>
          <a:solidFill>
            <a:srgbClr val="16213E"/>
          </a:solidFill>
          <a:ln w="19050">
            <a:solidFill>
              <a:srgbClr val="FFB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462272" y="1362456"/>
            <a:ext cx="3255264" cy="502920"/>
          </a:xfrm>
          <a:prstGeom prst="roundRect">
            <a:avLst>
              <a:gd name="adj" fmla="val 3500"/>
            </a:avLst>
          </a:prstGeom>
          <a:solidFill>
            <a:srgbClr val="1C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00016" y="1435608"/>
            <a:ext cx="2779776" cy="365760"/>
          </a:xfrm>
          <a:prstGeom prst="rect">
            <a:avLst/>
          </a:prstGeom>
          <a:noFill/>
        </p:spPr>
        <p:txBody>
          <a:bodyPr wrap="square" lIns="0" tIns="0" rIns="0" bIns="0">
            <a:spAutoFit/>
          </a:bodyPr>
          <a:lstStyle/>
          <a:p>
            <a:pPr>
              <a:defRPr sz="1300" b="1">
                <a:solidFill>
                  <a:srgbClr val="FFBE0B"/>
                </a:solidFill>
                <a:latin typeface="Arial"/>
              </a:defRPr>
            </a:pPr>
            <a:r>
              <a:t>2. Modern Threat Landscape</a:t>
            </a:r>
          </a:p>
        </p:txBody>
      </p:sp>
      <p:sp>
        <p:nvSpPr>
          <p:cNvPr id="12" name="TextBox 11"/>
          <p:cNvSpPr txBox="1"/>
          <p:nvPr/>
        </p:nvSpPr>
        <p:spPr>
          <a:xfrm>
            <a:off x="4608576" y="2011680"/>
            <a:ext cx="2962656" cy="4206240"/>
          </a:xfrm>
          <a:prstGeom prst="rect">
            <a:avLst/>
          </a:prstGeom>
          <a:noFill/>
        </p:spPr>
        <p:txBody>
          <a:bodyPr wrap="square">
            <a:spAutoFit/>
          </a:bodyPr>
          <a:lstStyle/>
          <a:p>
            <a:pPr>
              <a:spcAft>
                <a:spcPts val="800"/>
              </a:spcAft>
              <a:defRPr sz="1100" b="0" i="0">
                <a:solidFill>
                  <a:srgbClr val="F5F7FA"/>
                </a:solidFill>
                <a:latin typeface="Arial"/>
              </a:defRPr>
            </a:pPr>
            <a:r>
              <a:t>• Leaked Wordlists: Attackers exploit precomputed wordlists (e.g., RockYou with 32M+ entries) and pattern mutation rules.</a:t>
            </a:r>
          </a:p>
          <a:p>
            <a:pPr>
              <a:spcAft>
                <a:spcPts val="800"/>
              </a:spcAft>
              <a:defRPr sz="1100" b="0" i="0">
                <a:solidFill>
                  <a:srgbClr val="F5F7FA"/>
                </a:solidFill>
                <a:latin typeface="Arial"/>
              </a:defRPr>
            </a:pPr>
            <a:r>
              <a:t>• High-Rate Offline Guessing: Unsalted or fast cryptographic hashes allow specialized GPU rigs to evaluate billions of guesses per second.</a:t>
            </a:r>
          </a:p>
          <a:p>
            <a:pPr>
              <a:spcAft>
                <a:spcPts val="800"/>
              </a:spcAft>
              <a:defRPr sz="1100" b="0" i="0">
                <a:solidFill>
                  <a:srgbClr val="F5F7FA"/>
                </a:solidFill>
                <a:latin typeface="Arial"/>
              </a:defRPr>
            </a:pPr>
            <a:r>
              <a:t>• Credential Stuffing: Automated botnets test dumped credential pairs across unrelated platforms with zero manual effort.</a:t>
            </a:r>
          </a:p>
          <a:p>
            <a:pPr>
              <a:defRPr sz="1100" b="0" i="0">
                <a:solidFill>
                  <a:srgbClr val="F5F7FA"/>
                </a:solidFill>
                <a:latin typeface="Arial"/>
              </a:defRPr>
            </a:pPr>
            <a:r>
              <a:t>• Phishing &amp; Interception: Social engineering bypasses password complexity entirely by intercepting plaintext directly.</a:t>
            </a:r>
          </a:p>
        </p:txBody>
      </p:sp>
      <p:sp>
        <p:nvSpPr>
          <p:cNvPr id="13" name="Rounded Rectangle 12"/>
          <p:cNvSpPr/>
          <p:nvPr/>
        </p:nvSpPr>
        <p:spPr>
          <a:xfrm>
            <a:off x="8119872" y="1325880"/>
            <a:ext cx="3328416" cy="5029200"/>
          </a:xfrm>
          <a:prstGeom prst="roundRect">
            <a:avLst>
              <a:gd name="adj" fmla="val 3500"/>
            </a:avLst>
          </a:prstGeom>
          <a:solidFill>
            <a:srgbClr val="16213E"/>
          </a:solidFill>
          <a:ln w="19050">
            <a:solidFill>
              <a:srgbClr val="FF4B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56448" y="1362456"/>
            <a:ext cx="3255264" cy="502920"/>
          </a:xfrm>
          <a:prstGeom prst="roundRect">
            <a:avLst>
              <a:gd name="adj" fmla="val 3500"/>
            </a:avLst>
          </a:prstGeom>
          <a:solidFill>
            <a:srgbClr val="1C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94192" y="1435608"/>
            <a:ext cx="2779776" cy="365760"/>
          </a:xfrm>
          <a:prstGeom prst="rect">
            <a:avLst/>
          </a:prstGeom>
          <a:noFill/>
        </p:spPr>
        <p:txBody>
          <a:bodyPr wrap="square" lIns="0" tIns="0" rIns="0" bIns="0">
            <a:spAutoFit/>
          </a:bodyPr>
          <a:lstStyle/>
          <a:p>
            <a:pPr>
              <a:defRPr sz="1300" b="1">
                <a:solidFill>
                  <a:srgbClr val="FF4B6E"/>
                </a:solidFill>
                <a:latin typeface="Arial"/>
              </a:defRPr>
            </a:pPr>
            <a:r>
              <a:t>3. The Complexity Fallacy</a:t>
            </a:r>
          </a:p>
        </p:txBody>
      </p:sp>
      <p:sp>
        <p:nvSpPr>
          <p:cNvPr id="16" name="TextBox 15"/>
          <p:cNvSpPr txBox="1"/>
          <p:nvPr/>
        </p:nvSpPr>
        <p:spPr>
          <a:xfrm>
            <a:off x="8302752" y="2011680"/>
            <a:ext cx="2962656" cy="4206240"/>
          </a:xfrm>
          <a:prstGeom prst="rect">
            <a:avLst/>
          </a:prstGeom>
          <a:noFill/>
        </p:spPr>
        <p:txBody>
          <a:bodyPr wrap="square">
            <a:spAutoFit/>
          </a:bodyPr>
          <a:lstStyle/>
          <a:p>
            <a:pPr>
              <a:spcAft>
                <a:spcPts val="800"/>
              </a:spcAft>
              <a:defRPr sz="1100" b="0" i="0">
                <a:solidFill>
                  <a:srgbClr val="F5F7FA"/>
                </a:solidFill>
                <a:latin typeface="Arial"/>
              </a:defRPr>
            </a:pPr>
            <a:r>
              <a:t>• Superficial Rules: Legacy policies demanding 1 uppercase, 1 digit, and 1 symbol produce predictable templates like 'Spring2024!'.</a:t>
            </a:r>
          </a:p>
          <a:p>
            <a:pPr>
              <a:spcAft>
                <a:spcPts val="800"/>
              </a:spcAft>
              <a:defRPr sz="1100" b="0" i="0">
                <a:solidFill>
                  <a:srgbClr val="F5F7FA"/>
                </a:solidFill>
                <a:latin typeface="Arial"/>
              </a:defRPr>
            </a:pPr>
            <a:r>
              <a:t>• NIST SP 800-63B Shift: Modern standards discourage arbitrary character composition rules and frequent periodic expiration.</a:t>
            </a:r>
          </a:p>
          <a:p>
            <a:pPr>
              <a:spcAft>
                <a:spcPts val="800"/>
              </a:spcAft>
              <a:defRPr sz="1100" b="0" i="0">
                <a:solidFill>
                  <a:srgbClr val="F5F7FA"/>
                </a:solidFill>
                <a:latin typeface="Arial"/>
              </a:defRPr>
            </a:pPr>
            <a:r>
              <a:t>• The Education Gap: Most users have never seen how password length mathematically dominates character alphabet expansion.</a:t>
            </a:r>
          </a:p>
          <a:p>
            <a:pPr>
              <a:defRPr sz="1100" b="0" i="0">
                <a:solidFill>
                  <a:srgbClr val="F5F7FA"/>
                </a:solidFill>
                <a:latin typeface="Arial"/>
              </a:defRPr>
            </a:pPr>
            <a:r>
              <a:t>• PasswordGuard Purpose: An interactive educational platform to demonstrate password heuristics, theoretical entropy, and salting.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0F5D4"/>
                </a:solidFill>
                <a:latin typeface="Arial"/>
              </a:defRPr>
            </a:pPr>
            <a:r>
              <a:t>AUTHENTICATION FOUNDATIONS</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200" b="1">
                <a:solidFill>
                  <a:srgbClr val="F5F7FA"/>
                </a:solidFill>
                <a:latin typeface="Arial"/>
              </a:defRPr>
            </a:pPr>
            <a:r>
              <a:t>Mathematical Foundations: Search Spaces &amp; the Prover-Verifier Model</a:t>
            </a:r>
          </a:p>
        </p:txBody>
      </p:sp>
      <p:sp>
        <p:nvSpPr>
          <p:cNvPr id="5" name="Rounded Rectangle 4"/>
          <p:cNvSpPr/>
          <p:nvPr/>
        </p:nvSpPr>
        <p:spPr>
          <a:xfrm>
            <a:off x="731520" y="1325880"/>
            <a:ext cx="5120640" cy="5029200"/>
          </a:xfrm>
          <a:prstGeom prst="roundRect">
            <a:avLst>
              <a:gd name="adj" fmla="val 3500"/>
            </a:avLst>
          </a:prstGeom>
          <a:solidFill>
            <a:srgbClr val="16213E"/>
          </a:solidFill>
          <a:ln w="1905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68096" y="1362456"/>
            <a:ext cx="5047488" cy="502920"/>
          </a:xfrm>
          <a:prstGeom prst="roundRect">
            <a:avLst>
              <a:gd name="adj" fmla="val 3500"/>
            </a:avLst>
          </a:prstGeom>
          <a:solidFill>
            <a:srgbClr val="1C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35608"/>
            <a:ext cx="4572000" cy="365760"/>
          </a:xfrm>
          <a:prstGeom prst="rect">
            <a:avLst/>
          </a:prstGeom>
          <a:noFill/>
        </p:spPr>
        <p:txBody>
          <a:bodyPr wrap="square" lIns="0" tIns="0" rIns="0" bIns="0">
            <a:spAutoFit/>
          </a:bodyPr>
          <a:lstStyle/>
          <a:p>
            <a:pPr>
              <a:defRPr sz="1300" b="1">
                <a:solidFill>
                  <a:srgbClr val="00F5D4"/>
                </a:solidFill>
                <a:latin typeface="Arial"/>
              </a:defRPr>
            </a:pPr>
            <a:r>
              <a:t>1. Prover-Verifier &amp; Formula</a:t>
            </a:r>
          </a:p>
        </p:txBody>
      </p:sp>
      <p:sp>
        <p:nvSpPr>
          <p:cNvPr id="8" name="TextBox 7"/>
          <p:cNvSpPr txBox="1"/>
          <p:nvPr/>
        </p:nvSpPr>
        <p:spPr>
          <a:xfrm>
            <a:off x="960120" y="2011680"/>
            <a:ext cx="4663440" cy="4114800"/>
          </a:xfrm>
          <a:prstGeom prst="rect">
            <a:avLst/>
          </a:prstGeom>
          <a:noFill/>
        </p:spPr>
        <p:txBody>
          <a:bodyPr wrap="square">
            <a:spAutoFit/>
          </a:bodyPr>
          <a:lstStyle/>
          <a:p>
            <a:pPr>
              <a:spcAft>
                <a:spcPts val="400"/>
              </a:spcAft>
              <a:defRPr sz="1200" b="1" i="0">
                <a:solidFill>
                  <a:srgbClr val="FFBE0B"/>
                </a:solidFill>
                <a:latin typeface="Arial"/>
              </a:defRPr>
            </a:pPr>
            <a:r>
              <a:t>The Prover-Verifier Principle:</a:t>
            </a:r>
          </a:p>
          <a:p>
            <a:pPr>
              <a:spcAft>
                <a:spcPts val="1200"/>
              </a:spcAft>
              <a:defRPr sz="1100" b="0" i="0">
                <a:solidFill>
                  <a:srgbClr val="F5F7FA"/>
                </a:solidFill>
                <a:latin typeface="Arial"/>
              </a:defRPr>
            </a:pPr>
            <a:r>
              <a:t>In client-server authentication, the user (prover) proves knowledge of a secret without the server storing plaintext. The server validates against a stored cryptographic verifier.</a:t>
            </a:r>
          </a:p>
          <a:p>
            <a:pPr>
              <a:spcAft>
                <a:spcPts val="400"/>
              </a:spcAft>
              <a:defRPr sz="1200" b="1" i="0">
                <a:solidFill>
                  <a:srgbClr val="FFBE0B"/>
                </a:solidFill>
                <a:latin typeface="Arial"/>
              </a:defRPr>
            </a:pPr>
            <a:r>
              <a:t>Combinatorial Search Space Formula:</a:t>
            </a:r>
          </a:p>
          <a:p>
            <a:pPr>
              <a:spcAft>
                <a:spcPts val="200"/>
              </a:spcAft>
              <a:defRPr sz="1200" b="1" i="0">
                <a:solidFill>
                  <a:srgbClr val="00F5D4"/>
                </a:solidFill>
                <a:latin typeface="Courier New"/>
              </a:defRPr>
            </a:pPr>
            <a:r>
              <a:t>   Total Combinations (S) = R^L</a:t>
            </a:r>
          </a:p>
          <a:p>
            <a:pPr>
              <a:spcAft>
                <a:spcPts val="1000"/>
              </a:spcAft>
              <a:defRPr sz="1200" b="1" i="0">
                <a:solidFill>
                  <a:srgbClr val="00F5D4"/>
                </a:solidFill>
                <a:latin typeface="Courier New"/>
              </a:defRPr>
            </a:pPr>
            <a:r>
              <a:t>   Theoretical Entropy (E) = L × log₂(R) bits</a:t>
            </a:r>
          </a:p>
          <a:p>
            <a:pPr>
              <a:spcAft>
                <a:spcPts val="400"/>
              </a:spcAft>
              <a:defRPr sz="1100" b="0" i="0">
                <a:solidFill>
                  <a:srgbClr val="F5F7FA"/>
                </a:solidFill>
                <a:latin typeface="Arial"/>
              </a:defRPr>
            </a:pPr>
            <a:r>
              <a:t>• R = Active character pool size (e.g., 26 letters, 62 alphanumeric, 95 printable ASCII).</a:t>
            </a:r>
          </a:p>
          <a:p>
            <a:pPr>
              <a:spcAft>
                <a:spcPts val="1200"/>
              </a:spcAft>
              <a:defRPr sz="1100" b="0" i="0">
                <a:solidFill>
                  <a:srgbClr val="F5F7FA"/>
                </a:solidFill>
                <a:latin typeface="Arial"/>
              </a:defRPr>
            </a:pPr>
            <a:r>
              <a:t>• L = Password length in characters.</a:t>
            </a:r>
          </a:p>
          <a:p>
            <a:pPr>
              <a:defRPr sz="1100" b="1" i="0">
                <a:solidFill>
                  <a:srgbClr val="38D98A"/>
                </a:solidFill>
                <a:latin typeface="Arial"/>
              </a:defRPr>
            </a:pPr>
            <a:r>
              <a:t>Critical Takeaway: Length (L) is in the exponent! Increasing length expands the theoretical search space exponentially, while expanding character pool (R) only increases the base.</a:t>
            </a:r>
          </a:p>
        </p:txBody>
      </p:sp>
      <p:sp>
        <p:nvSpPr>
          <p:cNvPr id="9" name="Rounded Rectangle 8"/>
          <p:cNvSpPr/>
          <p:nvPr/>
        </p:nvSpPr>
        <p:spPr>
          <a:xfrm>
            <a:off x="6217920" y="1325880"/>
            <a:ext cx="5242255" cy="5029200"/>
          </a:xfrm>
          <a:prstGeom prst="roundRect">
            <a:avLst>
              <a:gd name="adj" fmla="val 3500"/>
            </a:avLst>
          </a:prstGeom>
          <a:solidFill>
            <a:srgbClr val="16213E"/>
          </a:solidFill>
          <a:ln w="19050">
            <a:solidFill>
              <a:srgbClr val="3A8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54496" y="1362456"/>
            <a:ext cx="5169103" cy="502920"/>
          </a:xfrm>
          <a:prstGeom prst="roundRect">
            <a:avLst>
              <a:gd name="adj" fmla="val 3500"/>
            </a:avLst>
          </a:prstGeom>
          <a:solidFill>
            <a:srgbClr val="1C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35608"/>
            <a:ext cx="4693615" cy="365760"/>
          </a:xfrm>
          <a:prstGeom prst="rect">
            <a:avLst/>
          </a:prstGeom>
          <a:noFill/>
        </p:spPr>
        <p:txBody>
          <a:bodyPr wrap="square" lIns="0" tIns="0" rIns="0" bIns="0">
            <a:spAutoFit/>
          </a:bodyPr>
          <a:lstStyle/>
          <a:p>
            <a:pPr>
              <a:defRPr sz="1300" b="1">
                <a:solidFill>
                  <a:srgbClr val="3A86FF"/>
                </a:solidFill>
                <a:latin typeface="Arial"/>
              </a:defRPr>
            </a:pPr>
            <a:r>
              <a:t>2. Search Space Comparison</a:t>
            </a:r>
          </a:p>
        </p:txBody>
      </p:sp>
      <p:sp>
        <p:nvSpPr>
          <p:cNvPr id="12" name="TextBox 11"/>
          <p:cNvSpPr txBox="1"/>
          <p:nvPr/>
        </p:nvSpPr>
        <p:spPr>
          <a:xfrm>
            <a:off x="6446520" y="2011680"/>
            <a:ext cx="4754880" cy="4114800"/>
          </a:xfrm>
          <a:prstGeom prst="rect">
            <a:avLst/>
          </a:prstGeom>
          <a:noFill/>
        </p:spPr>
        <p:txBody>
          <a:bodyPr wrap="square">
            <a:spAutoFit/>
          </a:bodyPr>
          <a:lstStyle/>
          <a:p>
            <a:pPr>
              <a:spcAft>
                <a:spcPts val="200"/>
              </a:spcAft>
              <a:defRPr sz="1100" b="1" i="0">
                <a:solidFill>
                  <a:srgbClr val="FFBE0B"/>
                </a:solidFill>
                <a:latin typeface="Arial"/>
              </a:defRPr>
            </a:pPr>
            <a:r>
              <a:t>Example 1: Short Simple (8 chars, lowercase only)</a:t>
            </a:r>
          </a:p>
          <a:p>
            <a:pPr>
              <a:spcAft>
                <a:spcPts val="1000"/>
              </a:spcAft>
              <a:defRPr sz="1000" b="0" i="0">
                <a:solidFill>
                  <a:srgbClr val="F5F7FA"/>
                </a:solidFill>
                <a:latin typeface="Courier New"/>
              </a:defRPr>
            </a:pPr>
            <a:r>
              <a:t>R = 26, L = 8 | Total: 26⁸ ≈ 2.09 × 10¹¹ combinations</a:t>
            </a:r>
            <a:br/>
            <a:r>
              <a:t>Theoretical Entropy ≈ 37.6 bits | At 10¹¹ guesses/s: ≈ 1.05 seconds!</a:t>
            </a:r>
          </a:p>
          <a:p>
            <a:pPr>
              <a:spcAft>
                <a:spcPts val="200"/>
              </a:spcAft>
              <a:defRPr sz="1100" b="1" i="0">
                <a:solidFill>
                  <a:srgbClr val="FFBE0B"/>
                </a:solidFill>
                <a:latin typeface="Arial"/>
              </a:defRPr>
            </a:pPr>
            <a:r>
              <a:t>Example 2: Complex Short (8 chars, all ASCII sets)</a:t>
            </a:r>
          </a:p>
          <a:p>
            <a:pPr>
              <a:spcAft>
                <a:spcPts val="1000"/>
              </a:spcAft>
              <a:defRPr sz="1000" b="0" i="0">
                <a:solidFill>
                  <a:srgbClr val="F5F7FA"/>
                </a:solidFill>
                <a:latin typeface="Courier New"/>
              </a:defRPr>
            </a:pPr>
            <a:r>
              <a:t>R = 95, L = 8 | Total: 95⁸ ≈ 6.63 × 10¹⁵ combinations</a:t>
            </a:r>
            <a:br/>
            <a:r>
              <a:t>Theoretical Entropy ≈ 52.6 bits | At 10¹¹ guesses/s: ≈ 9.2 hours</a:t>
            </a:r>
          </a:p>
          <a:p>
            <a:pPr>
              <a:spcAft>
                <a:spcPts val="200"/>
              </a:spcAft>
              <a:defRPr sz="1100" b="1" i="0">
                <a:solidFill>
                  <a:srgbClr val="38D98A"/>
                </a:solidFill>
                <a:latin typeface="Arial"/>
              </a:defRPr>
            </a:pPr>
            <a:r>
              <a:t>Example 3: Long Passphrase (28 chars, lowercase + hyphens)</a:t>
            </a:r>
          </a:p>
          <a:p>
            <a:pPr>
              <a:defRPr sz="1000" b="0" i="0">
                <a:solidFill>
                  <a:srgbClr val="F5F7FA"/>
                </a:solidFill>
                <a:latin typeface="Courier New"/>
              </a:defRPr>
            </a:pPr>
            <a:r>
              <a:t>R = 27, L = 28 | Total: 27²⁸ ≈ 1.20 × 10⁴⁰ combinations</a:t>
            </a:r>
            <a:br/>
            <a:r>
              <a:t>Theoretical Entropy ≈ 133.2 bits | At 10¹¹ guesses/s: ≈ 1.9 × 10²¹ years!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0F5D4"/>
                </a:solidFill>
                <a:latin typeface="Arial"/>
              </a:defRPr>
            </a:pPr>
            <a:r>
              <a:t>ATTACK VECTORS &amp; MITIGATIONS</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200" b="1">
                <a:solidFill>
                  <a:srgbClr val="F5F7FA"/>
                </a:solidFill>
                <a:latin typeface="Arial"/>
              </a:defRPr>
            </a:pPr>
            <a:r>
              <a:t>Common Password Threats &amp; Defense in Depth</a:t>
            </a:r>
          </a:p>
        </p:txBody>
      </p:sp>
      <p:sp>
        <p:nvSpPr>
          <p:cNvPr id="5" name="Rounded Rectangle 4"/>
          <p:cNvSpPr/>
          <p:nvPr/>
        </p:nvSpPr>
        <p:spPr>
          <a:xfrm>
            <a:off x="731520" y="1325880"/>
            <a:ext cx="5180990" cy="5029200"/>
          </a:xfrm>
          <a:prstGeom prst="roundRect">
            <a:avLst>
              <a:gd name="adj" fmla="val 3500"/>
            </a:avLst>
          </a:prstGeom>
          <a:solidFill>
            <a:srgbClr val="16213E"/>
          </a:solidFill>
          <a:ln w="19050">
            <a:solidFill>
              <a:srgbClr val="FF4B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68096" y="1362456"/>
            <a:ext cx="5107838" cy="502920"/>
          </a:xfrm>
          <a:prstGeom prst="roundRect">
            <a:avLst>
              <a:gd name="adj" fmla="val 3500"/>
            </a:avLst>
          </a:prstGeom>
          <a:solidFill>
            <a:srgbClr val="1C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35608"/>
            <a:ext cx="4632350" cy="365760"/>
          </a:xfrm>
          <a:prstGeom prst="rect">
            <a:avLst/>
          </a:prstGeom>
          <a:noFill/>
        </p:spPr>
        <p:txBody>
          <a:bodyPr wrap="square" lIns="0" tIns="0" rIns="0" bIns="0">
            <a:spAutoFit/>
          </a:bodyPr>
          <a:lstStyle/>
          <a:p>
            <a:pPr>
              <a:defRPr sz="1300" b="1">
                <a:solidFill>
                  <a:srgbClr val="FF4B6E"/>
                </a:solidFill>
                <a:latin typeface="Arial"/>
              </a:defRPr>
            </a:pPr>
            <a:r>
              <a:t>Threat Vectors</a:t>
            </a:r>
          </a:p>
        </p:txBody>
      </p:sp>
      <p:sp>
        <p:nvSpPr>
          <p:cNvPr id="8" name="TextBox 7"/>
          <p:cNvSpPr txBox="1"/>
          <p:nvPr/>
        </p:nvSpPr>
        <p:spPr>
          <a:xfrm>
            <a:off x="960120" y="2011680"/>
            <a:ext cx="4723790" cy="4114800"/>
          </a:xfrm>
          <a:prstGeom prst="rect">
            <a:avLst/>
          </a:prstGeom>
          <a:noFill/>
        </p:spPr>
        <p:txBody>
          <a:bodyPr wrap="square">
            <a:spAutoFit/>
          </a:bodyPr>
          <a:lstStyle/>
          <a:p>
            <a:pPr>
              <a:spcAft>
                <a:spcPts val="200"/>
              </a:spcAft>
              <a:defRPr sz="1100" b="1" i="0">
                <a:solidFill>
                  <a:srgbClr val="FFBE0B"/>
                </a:solidFill>
                <a:latin typeface="Arial"/>
              </a:defRPr>
            </a:pPr>
            <a:r>
              <a:t>⚠️ Dictionary &amp; Rule-Based Attacks</a:t>
            </a:r>
          </a:p>
          <a:p>
            <a:pPr>
              <a:spcAft>
                <a:spcPts val="800"/>
              </a:spcAft>
              <a:defRPr sz="1000" b="0" i="0">
                <a:solidFill>
                  <a:srgbClr val="F5F7FA"/>
                </a:solidFill>
                <a:latin typeface="Arial"/>
              </a:defRPr>
            </a:pPr>
            <a:r>
              <a:t>Attackers rarely guess uniformly. They prioritize human wordlists (e.g. RockYou) and apply automated mutation rules (leetspeak, appending years).</a:t>
            </a:r>
          </a:p>
          <a:p>
            <a:pPr>
              <a:spcAft>
                <a:spcPts val="200"/>
              </a:spcAft>
              <a:defRPr sz="1100" b="1" i="0">
                <a:solidFill>
                  <a:srgbClr val="FFBE0B"/>
                </a:solidFill>
                <a:latin typeface="Arial"/>
              </a:defRPr>
            </a:pPr>
            <a:r>
              <a:t>⚠️ Credential Stuffing Botnets</a:t>
            </a:r>
          </a:p>
          <a:p>
            <a:pPr>
              <a:spcAft>
                <a:spcPts val="800"/>
              </a:spcAft>
              <a:defRPr sz="1000" b="0" i="0">
                <a:solidFill>
                  <a:srgbClr val="F5F7FA"/>
                </a:solidFill>
                <a:latin typeface="Arial"/>
              </a:defRPr>
            </a:pPr>
            <a:r>
              <a:t>Automated replay of stolen username-password dumps against thousands of unrelated login portals, capitalizing on widespread user credential reuse.</a:t>
            </a:r>
          </a:p>
          <a:p>
            <a:pPr>
              <a:spcAft>
                <a:spcPts val="200"/>
              </a:spcAft>
              <a:defRPr sz="1100" b="1" i="0">
                <a:solidFill>
                  <a:srgbClr val="FFBE0B"/>
                </a:solidFill>
                <a:latin typeface="Arial"/>
              </a:defRPr>
            </a:pPr>
            <a:r>
              <a:t>⚠️ Offline Fast Hash Cracking</a:t>
            </a:r>
          </a:p>
          <a:p>
            <a:pPr>
              <a:spcAft>
                <a:spcPts val="800"/>
              </a:spcAft>
              <a:defRPr sz="1000" b="0" i="0">
                <a:solidFill>
                  <a:srgbClr val="F5F7FA"/>
                </a:solidFill>
                <a:latin typeface="Arial"/>
              </a:defRPr>
            </a:pPr>
            <a:r>
              <a:t>When unsalted or fast hashes (MD5, SHA-1, SHA-256) leak from backend databases, attackers perform unthrottled GPU recovery without server lockouts.</a:t>
            </a:r>
          </a:p>
          <a:p>
            <a:pPr>
              <a:spcAft>
                <a:spcPts val="200"/>
              </a:spcAft>
              <a:defRPr sz="1100" b="1" i="0">
                <a:solidFill>
                  <a:srgbClr val="FFBE0B"/>
                </a:solidFill>
                <a:latin typeface="Arial"/>
              </a:defRPr>
            </a:pPr>
            <a:r>
              <a:t>⚠️ Phishing &amp; Social Engineering</a:t>
            </a:r>
          </a:p>
          <a:p>
            <a:pPr>
              <a:defRPr sz="1000" b="0" i="0">
                <a:solidFill>
                  <a:srgbClr val="F5F7FA"/>
                </a:solidFill>
                <a:latin typeface="Arial"/>
              </a:defRPr>
            </a:pPr>
            <a:r>
              <a:t>Adversaries manipulate human trust through deceptive sites, harvesting raw credentials directly regardless of password complexity.</a:t>
            </a:r>
          </a:p>
        </p:txBody>
      </p:sp>
      <p:sp>
        <p:nvSpPr>
          <p:cNvPr id="9" name="Rounded Rectangle 8"/>
          <p:cNvSpPr/>
          <p:nvPr/>
        </p:nvSpPr>
        <p:spPr>
          <a:xfrm>
            <a:off x="6278270" y="1325880"/>
            <a:ext cx="5180990" cy="5029200"/>
          </a:xfrm>
          <a:prstGeom prst="roundRect">
            <a:avLst>
              <a:gd name="adj" fmla="val 3500"/>
            </a:avLst>
          </a:prstGeom>
          <a:solidFill>
            <a:srgbClr val="16213E"/>
          </a:solidFill>
          <a:ln w="19050">
            <a:solidFill>
              <a:srgbClr val="38D9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14846" y="1362456"/>
            <a:ext cx="5107838" cy="502920"/>
          </a:xfrm>
          <a:prstGeom prst="roundRect">
            <a:avLst>
              <a:gd name="adj" fmla="val 3500"/>
            </a:avLst>
          </a:prstGeom>
          <a:solidFill>
            <a:srgbClr val="1C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52590" y="1435608"/>
            <a:ext cx="4632350" cy="365760"/>
          </a:xfrm>
          <a:prstGeom prst="rect">
            <a:avLst/>
          </a:prstGeom>
          <a:noFill/>
        </p:spPr>
        <p:txBody>
          <a:bodyPr wrap="square" lIns="0" tIns="0" rIns="0" bIns="0">
            <a:spAutoFit/>
          </a:bodyPr>
          <a:lstStyle/>
          <a:p>
            <a:pPr>
              <a:defRPr sz="1300" b="1">
                <a:solidFill>
                  <a:srgbClr val="38D98A"/>
                </a:solidFill>
                <a:latin typeface="Arial"/>
              </a:defRPr>
            </a:pPr>
            <a:r>
              <a:t>Defense in Depth Layers</a:t>
            </a:r>
          </a:p>
        </p:txBody>
      </p:sp>
      <p:sp>
        <p:nvSpPr>
          <p:cNvPr id="12" name="TextBox 11"/>
          <p:cNvSpPr txBox="1"/>
          <p:nvPr/>
        </p:nvSpPr>
        <p:spPr>
          <a:xfrm>
            <a:off x="6506870" y="2011680"/>
            <a:ext cx="4723790" cy="4114800"/>
          </a:xfrm>
          <a:prstGeom prst="rect">
            <a:avLst/>
          </a:prstGeom>
          <a:noFill/>
        </p:spPr>
        <p:txBody>
          <a:bodyPr wrap="square">
            <a:spAutoFit/>
          </a:bodyPr>
          <a:lstStyle/>
          <a:p>
            <a:pPr>
              <a:spcAft>
                <a:spcPts val="200"/>
              </a:spcAft>
              <a:defRPr sz="1100" b="1" i="0">
                <a:solidFill>
                  <a:srgbClr val="00F5D4"/>
                </a:solidFill>
                <a:latin typeface="Arial"/>
              </a:defRPr>
            </a:pPr>
            <a:r>
              <a:t>🛡️ Password Managers (Vaults)</a:t>
            </a:r>
          </a:p>
          <a:p>
            <a:pPr>
              <a:spcAft>
                <a:spcPts val="800"/>
              </a:spcAft>
              <a:defRPr sz="1000" b="0" i="0">
                <a:solidFill>
                  <a:srgbClr val="F5F7FA"/>
                </a:solidFill>
                <a:latin typeface="Arial"/>
              </a:defRPr>
            </a:pPr>
            <a:r>
              <a:t>Generate, store, and autofill cryptographically random, 20+ character passwords unique to every site—neutralizing credential stuffing.</a:t>
            </a:r>
          </a:p>
          <a:p>
            <a:pPr>
              <a:spcAft>
                <a:spcPts val="200"/>
              </a:spcAft>
              <a:defRPr sz="1100" b="1" i="0">
                <a:solidFill>
                  <a:srgbClr val="00F5D4"/>
                </a:solidFill>
                <a:latin typeface="Arial"/>
              </a:defRPr>
            </a:pPr>
            <a:r>
              <a:t>🛡️ Multi-Factor Authentication (MFA)</a:t>
            </a:r>
          </a:p>
          <a:p>
            <a:pPr>
              <a:spcAft>
                <a:spcPts val="800"/>
              </a:spcAft>
              <a:defRPr sz="1000" b="0" i="0">
                <a:solidFill>
                  <a:srgbClr val="F5F7FA"/>
                </a:solidFill>
                <a:latin typeface="Arial"/>
              </a:defRPr>
            </a:pPr>
            <a:r>
              <a:t>Enforce independent factors (TOTP apps or FIDO2/WebAuthn hardware keys). Even if a password leaks, unauthorized access is denied.</a:t>
            </a:r>
          </a:p>
          <a:p>
            <a:pPr>
              <a:spcAft>
                <a:spcPts val="200"/>
              </a:spcAft>
              <a:defRPr sz="1100" b="1" i="0">
                <a:solidFill>
                  <a:srgbClr val="00F5D4"/>
                </a:solidFill>
                <a:latin typeface="Arial"/>
              </a:defRPr>
            </a:pPr>
            <a:r>
              <a:t>🛡️ Slow Memory-Hard Hashing</a:t>
            </a:r>
          </a:p>
          <a:p>
            <a:pPr>
              <a:spcAft>
                <a:spcPts val="800"/>
              </a:spcAft>
              <a:defRPr sz="1000" b="0" i="0">
                <a:solidFill>
                  <a:srgbClr val="F5F7FA"/>
                </a:solidFill>
                <a:latin typeface="Arial"/>
              </a:defRPr>
            </a:pPr>
            <a:r>
              <a:t>Use dedicated Key Derivation Functions (Argon2id, bcrypt, scrypt) with unique salts to impose severe computational costs on offline attackers.</a:t>
            </a:r>
          </a:p>
          <a:p>
            <a:pPr>
              <a:spcAft>
                <a:spcPts val="200"/>
              </a:spcAft>
              <a:defRPr sz="1100" b="1" i="0">
                <a:solidFill>
                  <a:srgbClr val="00F5D4"/>
                </a:solidFill>
                <a:latin typeface="Arial"/>
              </a:defRPr>
            </a:pPr>
            <a:r>
              <a:t>🛡️ Rate Limiting &amp; Account Lockouts</a:t>
            </a:r>
          </a:p>
          <a:p>
            <a:pPr>
              <a:defRPr sz="1000" b="0" i="0">
                <a:solidFill>
                  <a:srgbClr val="F5F7FA"/>
                </a:solidFill>
                <a:latin typeface="Arial"/>
              </a:defRPr>
            </a:pPr>
            <a:r>
              <a:t>Throttling login endpoints at the network perimeter neutralizes online automated guessing and credential stuffing botnets.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0F5D4"/>
                </a:solidFill>
                <a:latin typeface="Arial"/>
              </a:defRPr>
            </a:pPr>
            <a:r>
              <a:t>SYSTEM DESIGN</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200" b="1">
                <a:solidFill>
                  <a:srgbClr val="F5F7FA"/>
                </a:solidFill>
                <a:latin typeface="Arial"/>
              </a:defRPr>
            </a:pPr>
            <a:r>
              <a:t>PasswordGuard: Application Architecture &amp; Privacy Design</a:t>
            </a:r>
          </a:p>
        </p:txBody>
      </p:sp>
      <p:sp>
        <p:nvSpPr>
          <p:cNvPr id="5" name="Rounded Rectangle 4"/>
          <p:cNvSpPr/>
          <p:nvPr/>
        </p:nvSpPr>
        <p:spPr>
          <a:xfrm>
            <a:off x="731520" y="1325880"/>
            <a:ext cx="5120640" cy="5029200"/>
          </a:xfrm>
          <a:prstGeom prst="roundRect">
            <a:avLst>
              <a:gd name="adj" fmla="val 3500"/>
            </a:avLst>
          </a:prstGeom>
          <a:solidFill>
            <a:srgbClr val="16213E"/>
          </a:solidFill>
          <a:ln w="19050">
            <a:solidFill>
              <a:srgbClr val="3A8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68096" y="1362456"/>
            <a:ext cx="5047488" cy="502920"/>
          </a:xfrm>
          <a:prstGeom prst="roundRect">
            <a:avLst>
              <a:gd name="adj" fmla="val 3500"/>
            </a:avLst>
          </a:prstGeom>
          <a:solidFill>
            <a:srgbClr val="1C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35608"/>
            <a:ext cx="4572000" cy="365760"/>
          </a:xfrm>
          <a:prstGeom prst="rect">
            <a:avLst/>
          </a:prstGeom>
          <a:noFill/>
        </p:spPr>
        <p:txBody>
          <a:bodyPr wrap="square" lIns="0" tIns="0" rIns="0" bIns="0">
            <a:spAutoFit/>
          </a:bodyPr>
          <a:lstStyle/>
          <a:p>
            <a:pPr>
              <a:defRPr sz="1300" b="1">
                <a:solidFill>
                  <a:srgbClr val="3A86FF"/>
                </a:solidFill>
                <a:latin typeface="Arial"/>
              </a:defRPr>
            </a:pPr>
            <a:r>
              <a:t>Client-Side Processing Model</a:t>
            </a:r>
          </a:p>
        </p:txBody>
      </p:sp>
      <p:sp>
        <p:nvSpPr>
          <p:cNvPr id="8" name="TextBox 7"/>
          <p:cNvSpPr txBox="1"/>
          <p:nvPr/>
        </p:nvSpPr>
        <p:spPr>
          <a:xfrm>
            <a:off x="960120" y="2011680"/>
            <a:ext cx="4663440" cy="4114800"/>
          </a:xfrm>
          <a:prstGeom prst="rect">
            <a:avLst/>
          </a:prstGeom>
          <a:noFill/>
        </p:spPr>
        <p:txBody>
          <a:bodyPr wrap="square">
            <a:spAutoFit/>
          </a:bodyPr>
          <a:lstStyle/>
          <a:p>
            <a:pPr>
              <a:spcAft>
                <a:spcPts val="100"/>
              </a:spcAft>
              <a:defRPr sz="1100" b="1" i="0">
                <a:solidFill>
                  <a:srgbClr val="FFBE0B"/>
                </a:solidFill>
                <a:latin typeface="Arial"/>
              </a:defRPr>
            </a:pPr>
            <a:r>
              <a:t>• Modern Frontend Stack:</a:t>
            </a:r>
          </a:p>
          <a:p>
            <a:pPr>
              <a:spcAft>
                <a:spcPts val="800"/>
              </a:spcAft>
              <a:defRPr sz="1000" b="0" i="0">
                <a:solidFill>
                  <a:srgbClr val="F5F7FA"/>
                </a:solidFill>
                <a:latin typeface="Arial"/>
              </a:defRPr>
            </a:pPr>
            <a:r>
              <a:t>Built with React 19, TypeScript, and Vite for fast, type-safe interactive evaluation.</a:t>
            </a:r>
          </a:p>
          <a:p>
            <a:pPr>
              <a:spcAft>
                <a:spcPts val="100"/>
              </a:spcAft>
              <a:defRPr sz="1100" b="1" i="0">
                <a:solidFill>
                  <a:srgbClr val="FFBE0B"/>
                </a:solidFill>
                <a:latin typeface="Arial"/>
              </a:defRPr>
            </a:pPr>
            <a:r>
              <a:t>• Strict Browser Execution Context:</a:t>
            </a:r>
          </a:p>
          <a:p>
            <a:pPr>
              <a:spcAft>
                <a:spcPts val="800"/>
              </a:spcAft>
              <a:defRPr sz="1000" b="0" i="0">
                <a:solidFill>
                  <a:srgbClr val="F5F7FA"/>
                </a:solidFill>
                <a:latin typeface="Arial"/>
              </a:defRPr>
            </a:pPr>
            <a:r>
              <a:t>All analysis logic, scoring calculations, and hashing routines execute entirely inside the user's browser runtime.</a:t>
            </a:r>
          </a:p>
          <a:p>
            <a:pPr>
              <a:spcAft>
                <a:spcPts val="100"/>
              </a:spcAft>
              <a:defRPr sz="1100" b="1" i="0">
                <a:solidFill>
                  <a:srgbClr val="FFBE0B"/>
                </a:solidFill>
                <a:latin typeface="Arial"/>
              </a:defRPr>
            </a:pPr>
            <a:r>
              <a:t>• Zero Server Transmission:</a:t>
            </a:r>
          </a:p>
          <a:p>
            <a:pPr>
              <a:spcAft>
                <a:spcPts val="800"/>
              </a:spcAft>
              <a:defRPr sz="1000" b="0" i="0">
                <a:solidFill>
                  <a:srgbClr val="F5F7FA"/>
                </a:solidFill>
                <a:latin typeface="Arial"/>
              </a:defRPr>
            </a:pPr>
            <a:r>
              <a:t>PasswordGuard operates with no application backend, no remote database, and no tracking telemetry. Entered credentials are not sent over any network.</a:t>
            </a:r>
          </a:p>
          <a:p>
            <a:pPr>
              <a:spcAft>
                <a:spcPts val="100"/>
              </a:spcAft>
              <a:defRPr sz="1100" b="1" i="0">
                <a:solidFill>
                  <a:srgbClr val="FFBE0B"/>
                </a:solidFill>
                <a:latin typeface="Arial"/>
              </a:defRPr>
            </a:pPr>
            <a:r>
              <a:t>• Native Web Crypto API:</a:t>
            </a:r>
          </a:p>
          <a:p>
            <a:pPr>
              <a:spcAft>
                <a:spcPts val="800"/>
              </a:spcAft>
              <a:defRPr sz="1000" b="0" i="0">
                <a:solidFill>
                  <a:srgbClr val="F5F7FA"/>
                </a:solidFill>
                <a:latin typeface="Arial"/>
              </a:defRPr>
            </a:pPr>
            <a:r>
              <a:t>Utilizes window.crypto.subtle for cryptographic hashing and crypto.getRandomValues for 16-byte random salt generation.</a:t>
            </a:r>
          </a:p>
          <a:p>
            <a:pPr>
              <a:spcAft>
                <a:spcPts val="100"/>
              </a:spcAft>
              <a:defRPr sz="1100" b="1" i="0">
                <a:solidFill>
                  <a:srgbClr val="FFBE0B"/>
                </a:solidFill>
                <a:latin typeface="Arial"/>
              </a:defRPr>
            </a:pPr>
            <a:r>
              <a:t>• Modular Component Architecture:</a:t>
            </a:r>
          </a:p>
          <a:p>
            <a:pPr>
              <a:defRPr sz="1000" b="0" i="0">
                <a:solidFill>
                  <a:srgbClr val="F5F7FA"/>
                </a:solidFill>
                <a:latin typeface="Arial"/>
              </a:defRPr>
            </a:pPr>
            <a:r>
              <a:t>Clean separation of concerns: Password Input, Strength Meter, Security Checklist, Cracking Time Estimator, and Hashing Lab.</a:t>
            </a:r>
          </a:p>
        </p:txBody>
      </p:sp>
      <p:sp>
        <p:nvSpPr>
          <p:cNvPr id="9" name="Rounded Rectangle 8"/>
          <p:cNvSpPr/>
          <p:nvPr/>
        </p:nvSpPr>
        <p:spPr>
          <a:xfrm>
            <a:off x="6217920" y="1325880"/>
            <a:ext cx="5242255" cy="5029200"/>
          </a:xfrm>
          <a:prstGeom prst="roundRect">
            <a:avLst>
              <a:gd name="adj" fmla="val 3500"/>
            </a:avLst>
          </a:prstGeom>
          <a:solidFill>
            <a:srgbClr val="16213E"/>
          </a:solidFill>
          <a:ln w="1905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54496" y="1362456"/>
            <a:ext cx="5169103" cy="502920"/>
          </a:xfrm>
          <a:prstGeom prst="roundRect">
            <a:avLst>
              <a:gd name="adj" fmla="val 3500"/>
            </a:avLst>
          </a:prstGeom>
          <a:solidFill>
            <a:srgbClr val="1C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35608"/>
            <a:ext cx="4693615" cy="365760"/>
          </a:xfrm>
          <a:prstGeom prst="rect">
            <a:avLst/>
          </a:prstGeom>
          <a:noFill/>
        </p:spPr>
        <p:txBody>
          <a:bodyPr wrap="square" lIns="0" tIns="0" rIns="0" bIns="0">
            <a:spAutoFit/>
          </a:bodyPr>
          <a:lstStyle/>
          <a:p>
            <a:pPr>
              <a:defRPr sz="1300" b="1">
                <a:solidFill>
                  <a:srgbClr val="00F5D4"/>
                </a:solidFill>
                <a:latin typeface="Arial"/>
              </a:defRPr>
            </a:pPr>
            <a:r>
              <a:t>System Architecture Flow</a:t>
            </a:r>
          </a:p>
        </p:txBody>
      </p:sp>
      <p:sp>
        <p:nvSpPr>
          <p:cNvPr id="12" name="Rounded Rectangle 11"/>
          <p:cNvSpPr/>
          <p:nvPr/>
        </p:nvSpPr>
        <p:spPr>
          <a:xfrm>
            <a:off x="6446520" y="2011680"/>
            <a:ext cx="4785055" cy="4069080"/>
          </a:xfrm>
          <a:prstGeom prst="roundRect">
            <a:avLst>
              <a:gd name="adj" fmla="val 3000"/>
            </a:avLst>
          </a:prstGeom>
          <a:solidFill>
            <a:srgbClr val="FFFFFF"/>
          </a:solidFill>
          <a:ln w="12700">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ig_architecture.png"/>
          <p:cNvPicPr>
            <a:picLocks noChangeAspect="1"/>
          </p:cNvPicPr>
          <p:nvPr/>
        </p:nvPicPr>
        <p:blipFill>
          <a:blip r:embed="rId2"/>
          <a:stretch>
            <a:fillRect/>
          </a:stretch>
        </p:blipFill>
        <p:spPr>
          <a:xfrm>
            <a:off x="6537960" y="2148840"/>
            <a:ext cx="4602175" cy="2454493"/>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0F5D4"/>
                </a:solidFill>
                <a:latin typeface="Arial"/>
              </a:defRPr>
            </a:pPr>
            <a:r>
              <a:t>SCORING METHODOLOGY</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200" b="1">
                <a:solidFill>
                  <a:srgbClr val="F5F7FA"/>
                </a:solidFill>
                <a:latin typeface="Arial"/>
              </a:defRPr>
            </a:pPr>
            <a:r>
              <a:t>How PasswordGuard Evaluates Passwords: Heuristic &amp; Entropy</a:t>
            </a:r>
          </a:p>
        </p:txBody>
      </p:sp>
      <p:sp>
        <p:nvSpPr>
          <p:cNvPr id="5" name="Rounded Rectangle 4"/>
          <p:cNvSpPr/>
          <p:nvPr/>
        </p:nvSpPr>
        <p:spPr>
          <a:xfrm>
            <a:off x="731520" y="1325880"/>
            <a:ext cx="5120640" cy="5029200"/>
          </a:xfrm>
          <a:prstGeom prst="roundRect">
            <a:avLst>
              <a:gd name="adj" fmla="val 3500"/>
            </a:avLst>
          </a:prstGeom>
          <a:solidFill>
            <a:srgbClr val="16213E"/>
          </a:solidFill>
          <a:ln w="1905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68096" y="1362456"/>
            <a:ext cx="5047488" cy="502920"/>
          </a:xfrm>
          <a:prstGeom prst="roundRect">
            <a:avLst>
              <a:gd name="adj" fmla="val 3500"/>
            </a:avLst>
          </a:prstGeom>
          <a:solidFill>
            <a:srgbClr val="1C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35608"/>
            <a:ext cx="4572000" cy="365760"/>
          </a:xfrm>
          <a:prstGeom prst="rect">
            <a:avLst/>
          </a:prstGeom>
          <a:noFill/>
        </p:spPr>
        <p:txBody>
          <a:bodyPr wrap="square" lIns="0" tIns="0" rIns="0" bIns="0">
            <a:spAutoFit/>
          </a:bodyPr>
          <a:lstStyle/>
          <a:p>
            <a:pPr>
              <a:defRPr sz="1300" b="1">
                <a:solidFill>
                  <a:srgbClr val="00F5D4"/>
                </a:solidFill>
                <a:latin typeface="Arial"/>
              </a:defRPr>
            </a:pPr>
            <a:r>
              <a:t>1. Transparent Heuristic (0–100)</a:t>
            </a:r>
          </a:p>
        </p:txBody>
      </p:sp>
      <p:sp>
        <p:nvSpPr>
          <p:cNvPr id="8" name="TextBox 7"/>
          <p:cNvSpPr txBox="1"/>
          <p:nvPr/>
        </p:nvSpPr>
        <p:spPr>
          <a:xfrm>
            <a:off x="960120" y="2011680"/>
            <a:ext cx="4663440" cy="4114800"/>
          </a:xfrm>
          <a:prstGeom prst="rect">
            <a:avLst/>
          </a:prstGeom>
          <a:noFill/>
        </p:spPr>
        <p:txBody>
          <a:bodyPr wrap="square">
            <a:spAutoFit/>
          </a:bodyPr>
          <a:lstStyle/>
          <a:p>
            <a:pPr>
              <a:spcAft>
                <a:spcPts val="600"/>
              </a:spcAft>
              <a:defRPr sz="1200" b="1" i="0">
                <a:solidFill>
                  <a:srgbClr val="FFBE0B"/>
                </a:solidFill>
                <a:latin typeface="Arial"/>
              </a:defRPr>
            </a:pPr>
            <a:r>
              <a:t>Scoring Mechanics:</a:t>
            </a:r>
          </a:p>
          <a:p>
            <a:pPr>
              <a:spcAft>
                <a:spcPts val="600"/>
              </a:spcAft>
              <a:defRPr sz="1000" b="0" i="0">
                <a:solidFill>
                  <a:srgbClr val="F5F7FA"/>
                </a:solidFill>
                <a:latin typeface="Arial"/>
              </a:defRPr>
            </a:pPr>
            <a:r>
              <a:t>• Base Length Score: Up to 40 points (+4 pts/char up to 6; +2.5 pts/char up to 10; +1 pt/char beyond 10).</a:t>
            </a:r>
          </a:p>
          <a:p>
            <a:pPr>
              <a:spcAft>
                <a:spcPts val="600"/>
              </a:spcAft>
              <a:defRPr sz="1000" b="0" i="0">
                <a:solidFill>
                  <a:srgbClr val="F5F7FA"/>
                </a:solidFill>
                <a:latin typeface="Arial"/>
              </a:defRPr>
            </a:pPr>
            <a:r>
              <a:t>• Character Variety: Up to 35 points (Lowercase +5, Uppercase +10, Digits +10, Symbols +10).</a:t>
            </a:r>
          </a:p>
          <a:p>
            <a:pPr>
              <a:spcAft>
                <a:spcPts val="600"/>
              </a:spcAft>
              <a:defRPr sz="1000" b="0" i="0">
                <a:solidFill>
                  <a:srgbClr val="F5F7FA"/>
                </a:solidFill>
                <a:latin typeface="Arial"/>
              </a:defRPr>
            </a:pPr>
            <a:r>
              <a:t>• Structural Diversity: Up to 15 bonus points (2 types: +5, 3 types: +10, all 4 types: +15).</a:t>
            </a:r>
          </a:p>
          <a:p>
            <a:pPr>
              <a:spcAft>
                <a:spcPts val="600"/>
              </a:spcAft>
              <a:defRPr sz="1000" b="0" i="0">
                <a:solidFill>
                  <a:srgbClr val="F5F7FA"/>
                </a:solidFill>
                <a:latin typeface="Arial"/>
              </a:defRPr>
            </a:pPr>
            <a:r>
              <a:t>• Passphrase Bonus: +10 bonus points for strings ≥16 chars with whitespace/hyphen word boundaries.</a:t>
            </a:r>
          </a:p>
          <a:p>
            <a:pPr>
              <a:spcAft>
                <a:spcPts val="600"/>
              </a:spcAft>
              <a:defRPr sz="1000" b="0" i="0">
                <a:solidFill>
                  <a:srgbClr val="F5F7FA"/>
                </a:solidFill>
                <a:latin typeface="Arial"/>
              </a:defRPr>
            </a:pPr>
            <a:r>
              <a:t>• Subtractive Penalties: Sequential characters (-15), repeated runs (-15), known dictionary patterns (-25).</a:t>
            </a:r>
          </a:p>
          <a:p>
            <a:pPr>
              <a:defRPr sz="1000" b="1" i="0">
                <a:solidFill>
                  <a:srgbClr val="38D98A"/>
                </a:solidFill>
                <a:latin typeface="Arial"/>
              </a:defRPr>
            </a:pPr>
            <a:r>
              <a:t>• Final Classification: Weak (0–39) • Medium (40–69) • Strong (70–100).</a:t>
            </a:r>
          </a:p>
        </p:txBody>
      </p:sp>
      <p:sp>
        <p:nvSpPr>
          <p:cNvPr id="9" name="Rounded Rectangle 8"/>
          <p:cNvSpPr/>
          <p:nvPr/>
        </p:nvSpPr>
        <p:spPr>
          <a:xfrm>
            <a:off x="6217920" y="1325880"/>
            <a:ext cx="5242255" cy="5029200"/>
          </a:xfrm>
          <a:prstGeom prst="roundRect">
            <a:avLst>
              <a:gd name="adj" fmla="val 3500"/>
            </a:avLst>
          </a:prstGeom>
          <a:solidFill>
            <a:srgbClr val="16213E"/>
          </a:solidFill>
          <a:ln w="19050">
            <a:solidFill>
              <a:srgbClr val="FFB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54496" y="1362456"/>
            <a:ext cx="5169103" cy="502920"/>
          </a:xfrm>
          <a:prstGeom prst="roundRect">
            <a:avLst>
              <a:gd name="adj" fmla="val 3500"/>
            </a:avLst>
          </a:prstGeom>
          <a:solidFill>
            <a:srgbClr val="1C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35608"/>
            <a:ext cx="4693615" cy="365760"/>
          </a:xfrm>
          <a:prstGeom prst="rect">
            <a:avLst/>
          </a:prstGeom>
          <a:noFill/>
        </p:spPr>
        <p:txBody>
          <a:bodyPr wrap="square" lIns="0" tIns="0" rIns="0" bIns="0">
            <a:spAutoFit/>
          </a:bodyPr>
          <a:lstStyle/>
          <a:p>
            <a:pPr>
              <a:defRPr sz="1300" b="1">
                <a:solidFill>
                  <a:srgbClr val="FFBE0B"/>
                </a:solidFill>
                <a:latin typeface="Arial"/>
              </a:defRPr>
            </a:pPr>
            <a:r>
              <a:t>2. Theoretical Entropy &amp; Guessing Models</a:t>
            </a:r>
          </a:p>
        </p:txBody>
      </p:sp>
      <p:sp>
        <p:nvSpPr>
          <p:cNvPr id="12" name="TextBox 11"/>
          <p:cNvSpPr txBox="1"/>
          <p:nvPr/>
        </p:nvSpPr>
        <p:spPr>
          <a:xfrm>
            <a:off x="6446520" y="2011680"/>
            <a:ext cx="4754880" cy="4114800"/>
          </a:xfrm>
          <a:prstGeom prst="rect">
            <a:avLst/>
          </a:prstGeom>
          <a:noFill/>
        </p:spPr>
        <p:txBody>
          <a:bodyPr wrap="square">
            <a:spAutoFit/>
          </a:bodyPr>
          <a:lstStyle/>
          <a:p>
            <a:pPr>
              <a:spcAft>
                <a:spcPts val="400"/>
              </a:spcAft>
              <a:defRPr sz="1200" b="1" i="0">
                <a:solidFill>
                  <a:srgbClr val="00F5D4"/>
                </a:solidFill>
                <a:latin typeface="Arial"/>
              </a:defRPr>
            </a:pPr>
            <a:r>
              <a:t>Theoretical Character-Space Entropy Estimate:</a:t>
            </a:r>
          </a:p>
          <a:p>
            <a:pPr>
              <a:spcAft>
                <a:spcPts val="200"/>
              </a:spcAft>
              <a:defRPr sz="1200" b="1" i="0">
                <a:solidFill>
                  <a:srgbClr val="F5F7FA"/>
                </a:solidFill>
                <a:latin typeface="Courier New"/>
              </a:defRPr>
            </a:pPr>
            <a:r>
              <a:t>   E = L × log₂(R) bits</a:t>
            </a:r>
          </a:p>
          <a:p>
            <a:pPr>
              <a:spcAft>
                <a:spcPts val="1000"/>
              </a:spcAft>
              <a:defRPr sz="1000" b="0" i="1">
                <a:solidFill>
                  <a:srgbClr val="A5B2C6"/>
                </a:solidFill>
                <a:latin typeface="Arial"/>
              </a:defRPr>
            </a:pPr>
            <a:r>
              <a:t>(Upper bound estimate under uniform-character assumption)</a:t>
            </a:r>
          </a:p>
          <a:p>
            <a:pPr>
              <a:spcAft>
                <a:spcPts val="600"/>
              </a:spcAft>
              <a:defRPr sz="1200" b="1" i="0">
                <a:solidFill>
                  <a:srgbClr val="FFBE0B"/>
                </a:solidFill>
                <a:latin typeface="Arial"/>
              </a:defRPr>
            </a:pPr>
            <a:r>
              <a:t>Illustrative Assumed Guessing Rates (T = S / (2 × V)):</a:t>
            </a:r>
          </a:p>
          <a:p>
            <a:pPr>
              <a:spcAft>
                <a:spcPts val="600"/>
              </a:spcAft>
              <a:defRPr sz="1000" b="0" i="0">
                <a:solidFill>
                  <a:srgbClr val="F5F7FA"/>
                </a:solidFill>
                <a:latin typeface="Arial"/>
              </a:defRPr>
            </a:pPr>
            <a:r>
              <a:t>• 100 guesses/sec: Simulates an online authentication endpoint with aggressive network rate-limiting and lockout.</a:t>
            </a:r>
          </a:p>
          <a:p>
            <a:pPr>
              <a:spcAft>
                <a:spcPts val="600"/>
              </a:spcAft>
              <a:defRPr sz="1000" b="0" i="0">
                <a:solidFill>
                  <a:srgbClr val="F5F7FA"/>
                </a:solidFill>
                <a:latin typeface="Arial"/>
              </a:defRPr>
            </a:pPr>
            <a:r>
              <a:t>• 10,000,000 guesses/sec (10⁷): Simulates standard multi-threaded CPU offline guessing against a moderately fast hash.</a:t>
            </a:r>
          </a:p>
          <a:p>
            <a:pPr>
              <a:spcAft>
                <a:spcPts val="600"/>
              </a:spcAft>
              <a:defRPr sz="1000" b="0" i="0">
                <a:solidFill>
                  <a:srgbClr val="F5F7FA"/>
                </a:solidFill>
                <a:latin typeface="Arial"/>
              </a:defRPr>
            </a:pPr>
            <a:r>
              <a:t>• 100,000,000,000 guesses/sec (10¹¹): Simulates high-end parallel GPU clusters targeting unsalted fast hashes (e.g. SHA-256).</a:t>
            </a:r>
          </a:p>
          <a:p>
            <a:pPr>
              <a:defRPr sz="1000" b="0" i="1">
                <a:solidFill>
                  <a:srgbClr val="FF4B6E"/>
                </a:solidFill>
                <a:latin typeface="Arial"/>
              </a:defRPr>
            </a:pPr>
            <a:r>
              <a:t>• Educational Qualification: These rates are illustrative mathematical projections, NOT physical cracking benchmarks.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0F5D4"/>
                </a:solidFill>
                <a:latin typeface="Arial"/>
              </a:defRPr>
            </a:pPr>
            <a:r>
              <a:t>HASHING &amp; SALTING DEMONSTRATION</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200" b="1">
                <a:solidFill>
                  <a:srgbClr val="F5F7FA"/>
                </a:solidFill>
                <a:latin typeface="Arial"/>
              </a:defRPr>
            </a:pPr>
            <a:r>
              <a:t>Password Hashing, Cryptographic Salts, and Production Security</a:t>
            </a:r>
          </a:p>
        </p:txBody>
      </p:sp>
      <p:sp>
        <p:nvSpPr>
          <p:cNvPr id="5" name="Rounded Rectangle 4"/>
          <p:cNvSpPr/>
          <p:nvPr/>
        </p:nvSpPr>
        <p:spPr>
          <a:xfrm>
            <a:off x="731520" y="1325880"/>
            <a:ext cx="3328416" cy="5029200"/>
          </a:xfrm>
          <a:prstGeom prst="roundRect">
            <a:avLst>
              <a:gd name="adj" fmla="val 3500"/>
            </a:avLst>
          </a:prstGeom>
          <a:solidFill>
            <a:srgbClr val="16213E"/>
          </a:solidFill>
          <a:ln w="19050">
            <a:solidFill>
              <a:srgbClr val="3A8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68096" y="1362456"/>
            <a:ext cx="3255264" cy="502920"/>
          </a:xfrm>
          <a:prstGeom prst="roundRect">
            <a:avLst>
              <a:gd name="adj" fmla="val 3500"/>
            </a:avLst>
          </a:prstGeom>
          <a:solidFill>
            <a:srgbClr val="1C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35608"/>
            <a:ext cx="2779776" cy="365760"/>
          </a:xfrm>
          <a:prstGeom prst="rect">
            <a:avLst/>
          </a:prstGeom>
          <a:noFill/>
        </p:spPr>
        <p:txBody>
          <a:bodyPr wrap="square" lIns="0" tIns="0" rIns="0" bIns="0">
            <a:spAutoFit/>
          </a:bodyPr>
          <a:lstStyle/>
          <a:p>
            <a:pPr>
              <a:defRPr sz="1300" b="1">
                <a:solidFill>
                  <a:srgbClr val="3A86FF"/>
                </a:solidFill>
                <a:latin typeface="Arial"/>
              </a:defRPr>
            </a:pPr>
            <a:r>
              <a:t>1. One-Way Hashing</a:t>
            </a:r>
          </a:p>
        </p:txBody>
      </p:sp>
      <p:sp>
        <p:nvSpPr>
          <p:cNvPr id="8" name="TextBox 7"/>
          <p:cNvSpPr txBox="1"/>
          <p:nvPr/>
        </p:nvSpPr>
        <p:spPr>
          <a:xfrm>
            <a:off x="914400" y="2011680"/>
            <a:ext cx="2962656" cy="4114800"/>
          </a:xfrm>
          <a:prstGeom prst="rect">
            <a:avLst/>
          </a:prstGeom>
          <a:noFill/>
        </p:spPr>
        <p:txBody>
          <a:bodyPr wrap="square">
            <a:spAutoFit/>
          </a:bodyPr>
          <a:lstStyle/>
          <a:p>
            <a:pPr>
              <a:spcAft>
                <a:spcPts val="200"/>
              </a:spcAft>
              <a:defRPr sz="1100" b="1" i="0">
                <a:solidFill>
                  <a:srgbClr val="FFBE0B"/>
                </a:solidFill>
                <a:latin typeface="Arial"/>
              </a:defRPr>
            </a:pPr>
            <a:r>
              <a:t>• Deterministic &amp; Irreversible:</a:t>
            </a:r>
          </a:p>
          <a:p>
            <a:pPr>
              <a:spcAft>
                <a:spcPts val="800"/>
              </a:spcAft>
              <a:defRPr sz="1000" b="0" i="0">
                <a:solidFill>
                  <a:srgbClr val="F5F7FA"/>
                </a:solidFill>
                <a:latin typeface="Arial"/>
              </a:defRPr>
            </a:pPr>
            <a:r>
              <a:t>Input maps to a fixed-size 256-bit hexadecimal digest. Inverting the digest back to plaintext is computationally infeasible.</a:t>
            </a:r>
          </a:p>
          <a:p>
            <a:pPr>
              <a:spcAft>
                <a:spcPts val="200"/>
              </a:spcAft>
              <a:defRPr sz="1100" b="1" i="0">
                <a:solidFill>
                  <a:srgbClr val="FFBE0B"/>
                </a:solidFill>
                <a:latin typeface="Arial"/>
              </a:defRPr>
            </a:pPr>
            <a:r>
              <a:t>• Avalanche Effect:</a:t>
            </a:r>
          </a:p>
          <a:p>
            <a:pPr>
              <a:spcAft>
                <a:spcPts val="800"/>
              </a:spcAft>
              <a:defRPr sz="1000" b="0" i="0">
                <a:solidFill>
                  <a:srgbClr val="F5F7FA"/>
                </a:solidFill>
                <a:latin typeface="Arial"/>
              </a:defRPr>
            </a:pPr>
            <a:r>
              <a:t>Changing a single character flips over 50% of output bits pseudorandomly, preventing incremental clues.</a:t>
            </a:r>
          </a:p>
          <a:p>
            <a:pPr>
              <a:spcAft>
                <a:spcPts val="200"/>
              </a:spcAft>
              <a:defRPr sz="1100" b="1" i="0">
                <a:solidFill>
                  <a:srgbClr val="FFBE0B"/>
                </a:solidFill>
                <a:latin typeface="Arial"/>
              </a:defRPr>
            </a:pPr>
            <a:r>
              <a:t>• The Fast Hash Flaw:</a:t>
            </a:r>
          </a:p>
          <a:p>
            <a:pPr>
              <a:defRPr sz="1000" b="0" i="0">
                <a:solidFill>
                  <a:srgbClr val="F5F7FA"/>
                </a:solidFill>
                <a:latin typeface="Arial"/>
              </a:defRPr>
            </a:pPr>
            <a:r>
              <a:t>General-purpose hashes (SHA-256, MD5) are engineered for maximum throughput, allowing attackers to test billions of guesses per second if a database leaks.</a:t>
            </a:r>
          </a:p>
        </p:txBody>
      </p:sp>
      <p:sp>
        <p:nvSpPr>
          <p:cNvPr id="9" name="Rounded Rectangle 8"/>
          <p:cNvSpPr/>
          <p:nvPr/>
        </p:nvSpPr>
        <p:spPr>
          <a:xfrm>
            <a:off x="4425696" y="1325880"/>
            <a:ext cx="3328416" cy="5029200"/>
          </a:xfrm>
          <a:prstGeom prst="roundRect">
            <a:avLst>
              <a:gd name="adj" fmla="val 3500"/>
            </a:avLst>
          </a:prstGeom>
          <a:solidFill>
            <a:srgbClr val="16213E"/>
          </a:solidFill>
          <a:ln w="1905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462272" y="1362456"/>
            <a:ext cx="3255264" cy="502920"/>
          </a:xfrm>
          <a:prstGeom prst="roundRect">
            <a:avLst>
              <a:gd name="adj" fmla="val 3500"/>
            </a:avLst>
          </a:prstGeom>
          <a:solidFill>
            <a:srgbClr val="1C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00016" y="1435608"/>
            <a:ext cx="2779776" cy="365760"/>
          </a:xfrm>
          <a:prstGeom prst="rect">
            <a:avLst/>
          </a:prstGeom>
          <a:noFill/>
        </p:spPr>
        <p:txBody>
          <a:bodyPr wrap="square" lIns="0" tIns="0" rIns="0" bIns="0">
            <a:spAutoFit/>
          </a:bodyPr>
          <a:lstStyle/>
          <a:p>
            <a:pPr>
              <a:defRPr sz="1300" b="1">
                <a:solidFill>
                  <a:srgbClr val="00F5D4"/>
                </a:solidFill>
                <a:latin typeface="Arial"/>
              </a:defRPr>
            </a:pPr>
            <a:r>
              <a:t>2. The Role of Salt</a:t>
            </a:r>
          </a:p>
        </p:txBody>
      </p:sp>
      <p:sp>
        <p:nvSpPr>
          <p:cNvPr id="12" name="TextBox 11"/>
          <p:cNvSpPr txBox="1"/>
          <p:nvPr/>
        </p:nvSpPr>
        <p:spPr>
          <a:xfrm>
            <a:off x="4608576" y="2011680"/>
            <a:ext cx="2962656" cy="4114800"/>
          </a:xfrm>
          <a:prstGeom prst="rect">
            <a:avLst/>
          </a:prstGeom>
          <a:noFill/>
        </p:spPr>
        <p:txBody>
          <a:bodyPr wrap="square">
            <a:spAutoFit/>
          </a:bodyPr>
          <a:lstStyle/>
          <a:p>
            <a:pPr>
              <a:spcAft>
                <a:spcPts val="200"/>
              </a:spcAft>
              <a:defRPr sz="1100" b="1" i="0">
                <a:solidFill>
                  <a:srgbClr val="00F5D4"/>
                </a:solidFill>
                <a:latin typeface="Arial"/>
              </a:defRPr>
            </a:pPr>
            <a:r>
              <a:t>• 16-Byte Cryptographic Salt:</a:t>
            </a:r>
          </a:p>
          <a:p>
            <a:pPr>
              <a:spcAft>
                <a:spcPts val="800"/>
              </a:spcAft>
              <a:defRPr sz="1000" b="0" i="0">
                <a:solidFill>
                  <a:srgbClr val="F5F7FA"/>
                </a:solidFill>
                <a:latin typeface="Arial"/>
              </a:defRPr>
            </a:pPr>
            <a:r>
              <a:t>A unique, cryptographically random salt generated per user via crypto.getRandomValues().</a:t>
            </a:r>
          </a:p>
          <a:p>
            <a:pPr>
              <a:spcAft>
                <a:spcPts val="200"/>
              </a:spcAft>
              <a:defRPr sz="1100" b="1" i="0">
                <a:solidFill>
                  <a:srgbClr val="00F5D4"/>
                </a:solidFill>
                <a:latin typeface="Arial"/>
              </a:defRPr>
            </a:pPr>
            <a:r>
              <a:t>• Digest Uniqueness:</a:t>
            </a:r>
          </a:p>
          <a:p>
            <a:pPr>
              <a:spcAft>
                <a:spcPts val="800"/>
              </a:spcAft>
              <a:defRPr sz="1000" b="0" i="0">
                <a:solidFill>
                  <a:srgbClr val="F5F7FA"/>
                </a:solidFill>
                <a:latin typeface="Arial"/>
              </a:defRPr>
            </a:pPr>
            <a:r>
              <a:t>Even if 1,000 users share the exact same password, each user gets a completely distinct stored hash.</a:t>
            </a:r>
          </a:p>
          <a:p>
            <a:pPr>
              <a:spcAft>
                <a:spcPts val="200"/>
              </a:spcAft>
              <a:defRPr sz="1100" b="1" i="0">
                <a:solidFill>
                  <a:srgbClr val="00F5D4"/>
                </a:solidFill>
                <a:latin typeface="Arial"/>
              </a:defRPr>
            </a:pPr>
            <a:r>
              <a:t>• Rainbow Table Invalidation:</a:t>
            </a:r>
          </a:p>
          <a:p>
            <a:pPr>
              <a:spcAft>
                <a:spcPts val="800"/>
              </a:spcAft>
              <a:defRPr sz="1000" b="0" i="0">
                <a:solidFill>
                  <a:srgbClr val="F5F7FA"/>
                </a:solidFill>
                <a:latin typeface="Arial"/>
              </a:defRPr>
            </a:pPr>
            <a:r>
              <a:t>Precomputed plaintext-to-hash lookup tables become useless because the table cannot predict random per-user salts.</a:t>
            </a:r>
          </a:p>
          <a:p>
            <a:pPr>
              <a:spcAft>
                <a:spcPts val="200"/>
              </a:spcAft>
              <a:defRPr sz="1100" b="1" i="0">
                <a:solidFill>
                  <a:srgbClr val="00F5D4"/>
                </a:solidFill>
                <a:latin typeface="Arial"/>
              </a:defRPr>
            </a:pPr>
            <a:r>
              <a:t>• Forced Individual Cracking:</a:t>
            </a:r>
          </a:p>
          <a:p>
            <a:pPr>
              <a:defRPr sz="1000" b="0" i="0">
                <a:solidFill>
                  <a:srgbClr val="F5F7FA"/>
                </a:solidFill>
                <a:latin typeface="Arial"/>
              </a:defRPr>
            </a:pPr>
            <a:r>
              <a:t>Attackers must spend full computing budget attacking each account individually.</a:t>
            </a:r>
          </a:p>
        </p:txBody>
      </p:sp>
      <p:sp>
        <p:nvSpPr>
          <p:cNvPr id="13" name="Rounded Rectangle 12"/>
          <p:cNvSpPr/>
          <p:nvPr/>
        </p:nvSpPr>
        <p:spPr>
          <a:xfrm>
            <a:off x="8119872" y="1325880"/>
            <a:ext cx="3328416" cy="5029200"/>
          </a:xfrm>
          <a:prstGeom prst="roundRect">
            <a:avLst>
              <a:gd name="adj" fmla="val 3500"/>
            </a:avLst>
          </a:prstGeom>
          <a:solidFill>
            <a:srgbClr val="16213E"/>
          </a:solidFill>
          <a:ln w="19050">
            <a:solidFill>
              <a:srgbClr val="38D9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56448" y="1362456"/>
            <a:ext cx="3255264" cy="502920"/>
          </a:xfrm>
          <a:prstGeom prst="roundRect">
            <a:avLst>
              <a:gd name="adj" fmla="val 3500"/>
            </a:avLst>
          </a:prstGeom>
          <a:solidFill>
            <a:srgbClr val="1C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94192" y="1435608"/>
            <a:ext cx="2779776" cy="365760"/>
          </a:xfrm>
          <a:prstGeom prst="rect">
            <a:avLst/>
          </a:prstGeom>
          <a:noFill/>
        </p:spPr>
        <p:txBody>
          <a:bodyPr wrap="square" lIns="0" tIns="0" rIns="0" bIns="0">
            <a:spAutoFit/>
          </a:bodyPr>
          <a:lstStyle/>
          <a:p>
            <a:pPr>
              <a:defRPr sz="1300" b="1">
                <a:solidFill>
                  <a:srgbClr val="38D98A"/>
                </a:solidFill>
                <a:latin typeface="Arial"/>
              </a:defRPr>
            </a:pPr>
            <a:r>
              <a:t>3. Production Standards</a:t>
            </a:r>
          </a:p>
        </p:txBody>
      </p:sp>
      <p:sp>
        <p:nvSpPr>
          <p:cNvPr id="16" name="TextBox 15"/>
          <p:cNvSpPr txBox="1"/>
          <p:nvPr/>
        </p:nvSpPr>
        <p:spPr>
          <a:xfrm>
            <a:off x="8302752" y="2011680"/>
            <a:ext cx="2962656" cy="4114800"/>
          </a:xfrm>
          <a:prstGeom prst="rect">
            <a:avLst/>
          </a:prstGeom>
          <a:noFill/>
        </p:spPr>
        <p:txBody>
          <a:bodyPr wrap="square">
            <a:spAutoFit/>
          </a:bodyPr>
          <a:lstStyle/>
          <a:p>
            <a:pPr>
              <a:spcAft>
                <a:spcPts val="200"/>
              </a:spcAft>
              <a:defRPr sz="1100" b="1" i="0">
                <a:solidFill>
                  <a:srgbClr val="FFBE0B"/>
                </a:solidFill>
                <a:latin typeface="Arial"/>
              </a:defRPr>
            </a:pPr>
            <a:r>
              <a:t>• Educational Notice:</a:t>
            </a:r>
          </a:p>
          <a:p>
            <a:pPr>
              <a:spcAft>
                <a:spcPts val="800"/>
              </a:spcAft>
              <a:defRPr sz="1000" b="0" i="0">
                <a:solidFill>
                  <a:srgbClr val="F5F7FA"/>
                </a:solidFill>
                <a:latin typeface="Arial"/>
              </a:defRPr>
            </a:pPr>
            <a:r>
              <a:t>SHA-256 is used in PasswordGuard strictly for browser demonstration and educational clarity.</a:t>
            </a:r>
          </a:p>
          <a:p>
            <a:pPr>
              <a:spcAft>
                <a:spcPts val="200"/>
              </a:spcAft>
              <a:defRPr sz="1100" b="1" i="0">
                <a:solidFill>
                  <a:srgbClr val="FFBE0B"/>
                </a:solidFill>
                <a:latin typeface="Arial"/>
              </a:defRPr>
            </a:pPr>
            <a:r>
              <a:t>• Why Fast Hashes Fail:</a:t>
            </a:r>
          </a:p>
          <a:p>
            <a:pPr>
              <a:spcAft>
                <a:spcPts val="800"/>
              </a:spcAft>
              <a:defRPr sz="1000" b="0" i="0">
                <a:solidFill>
                  <a:srgbClr val="F5F7FA"/>
                </a:solidFill>
                <a:latin typeface="Arial"/>
              </a:defRPr>
            </a:pPr>
            <a:r>
              <a:t>SHA-256 uses simple arithmetic logic and minimal memory, making it vulnerable to massive GPU/ASIC acceleration.</a:t>
            </a:r>
          </a:p>
          <a:p>
            <a:pPr>
              <a:spcAft>
                <a:spcPts val="200"/>
              </a:spcAft>
              <a:defRPr sz="1100" b="1" i="0">
                <a:solidFill>
                  <a:srgbClr val="38D98A"/>
                </a:solidFill>
                <a:latin typeface="Arial"/>
              </a:defRPr>
            </a:pPr>
            <a:r>
              <a:t>• Memory-Hard KDFs Required:</a:t>
            </a:r>
          </a:p>
          <a:p>
            <a:pPr>
              <a:spcAft>
                <a:spcPts val="800"/>
              </a:spcAft>
              <a:defRPr sz="1000" b="0" i="0">
                <a:solidFill>
                  <a:srgbClr val="F5F7FA"/>
                </a:solidFill>
                <a:latin typeface="Arial"/>
              </a:defRPr>
            </a:pPr>
            <a:r>
              <a:t>Production credential stores MUST use slow Key Derivation Functions: Argon2id (IETF RFC 9106), bcrypt, or scrypt.</a:t>
            </a:r>
          </a:p>
          <a:p>
            <a:pPr>
              <a:spcAft>
                <a:spcPts val="200"/>
              </a:spcAft>
              <a:defRPr sz="1100" b="1" i="0">
                <a:solidFill>
                  <a:srgbClr val="38D98A"/>
                </a:solidFill>
                <a:latin typeface="Arial"/>
              </a:defRPr>
            </a:pPr>
            <a:r>
              <a:t>• Work Factor Tuning:</a:t>
            </a:r>
          </a:p>
          <a:p>
            <a:pPr>
              <a:defRPr sz="1000" b="0" i="0">
                <a:solidFill>
                  <a:srgbClr val="F5F7FA"/>
                </a:solidFill>
                <a:latin typeface="Arial"/>
              </a:defRPr>
            </a:pPr>
            <a:r>
              <a:t>KDFs intentionally consume high RAM and CPU time, rendering large-scale offline brute force economically infeasible.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0F5D4"/>
                </a:solidFill>
                <a:latin typeface="Arial"/>
              </a:defRPr>
            </a:pPr>
            <a:r>
              <a:t>EVALUATION METHODOLOGY</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200" b="1">
                <a:solidFill>
                  <a:srgbClr val="F5F7FA"/>
                </a:solidFill>
                <a:latin typeface="Arial"/>
              </a:defRPr>
            </a:pPr>
            <a:r>
              <a:t>Experimental Design: Controlled Evaluation of Heuristic Behavior</a:t>
            </a:r>
          </a:p>
        </p:txBody>
      </p:sp>
      <p:sp>
        <p:nvSpPr>
          <p:cNvPr id="5" name="Rounded Rectangle 4"/>
          <p:cNvSpPr/>
          <p:nvPr/>
        </p:nvSpPr>
        <p:spPr>
          <a:xfrm>
            <a:off x="731520" y="1325880"/>
            <a:ext cx="4754880" cy="5029200"/>
          </a:xfrm>
          <a:prstGeom prst="roundRect">
            <a:avLst>
              <a:gd name="adj" fmla="val 3500"/>
            </a:avLst>
          </a:prstGeom>
          <a:solidFill>
            <a:srgbClr val="16213E"/>
          </a:solidFill>
          <a:ln w="19050">
            <a:solidFill>
              <a:srgbClr val="3A8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68096" y="1362456"/>
            <a:ext cx="4681728" cy="502920"/>
          </a:xfrm>
          <a:prstGeom prst="roundRect">
            <a:avLst>
              <a:gd name="adj" fmla="val 3500"/>
            </a:avLst>
          </a:prstGeom>
          <a:solidFill>
            <a:srgbClr val="1C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35608"/>
            <a:ext cx="4206240" cy="365760"/>
          </a:xfrm>
          <a:prstGeom prst="rect">
            <a:avLst/>
          </a:prstGeom>
          <a:noFill/>
        </p:spPr>
        <p:txBody>
          <a:bodyPr wrap="square" lIns="0" tIns="0" rIns="0" bIns="0">
            <a:spAutoFit/>
          </a:bodyPr>
          <a:lstStyle/>
          <a:p>
            <a:pPr>
              <a:defRPr sz="1300" b="1">
                <a:solidFill>
                  <a:srgbClr val="3A86FF"/>
                </a:solidFill>
                <a:latin typeface="Arial"/>
              </a:defRPr>
            </a:pPr>
            <a:r>
              <a:t>Experimental Protocol &amp; Ethics</a:t>
            </a:r>
          </a:p>
        </p:txBody>
      </p:sp>
      <p:sp>
        <p:nvSpPr>
          <p:cNvPr id="8" name="TextBox 7"/>
          <p:cNvSpPr txBox="1"/>
          <p:nvPr/>
        </p:nvSpPr>
        <p:spPr>
          <a:xfrm>
            <a:off x="960120" y="2011680"/>
            <a:ext cx="4297680" cy="4114800"/>
          </a:xfrm>
          <a:prstGeom prst="rect">
            <a:avLst/>
          </a:prstGeom>
          <a:noFill/>
        </p:spPr>
        <p:txBody>
          <a:bodyPr wrap="square">
            <a:spAutoFit/>
          </a:bodyPr>
          <a:lstStyle/>
          <a:p>
            <a:pPr>
              <a:spcAft>
                <a:spcPts val="200"/>
              </a:spcAft>
              <a:defRPr sz="1100" b="1" i="0">
                <a:solidFill>
                  <a:srgbClr val="FFBE0B"/>
                </a:solidFill>
                <a:latin typeface="Arial"/>
              </a:defRPr>
            </a:pPr>
            <a:r>
              <a:t>• Synthetic Dataset (N = 150):</a:t>
            </a:r>
          </a:p>
          <a:p>
            <a:pPr>
              <a:spcAft>
                <a:spcPts val="800"/>
              </a:spcAft>
              <a:defRPr sz="1000" b="0" i="0">
                <a:solidFill>
                  <a:srgbClr val="F5F7FA"/>
                </a:solidFill>
                <a:latin typeface="Arial"/>
              </a:defRPr>
            </a:pPr>
            <a:r>
              <a:t>Evaluates internal scoring consistency across five controlled structural categories (n = 30 samples each).</a:t>
            </a:r>
          </a:p>
          <a:p>
            <a:pPr>
              <a:spcAft>
                <a:spcPts val="200"/>
              </a:spcAft>
              <a:defRPr sz="1100" b="1" i="0">
                <a:solidFill>
                  <a:srgbClr val="FFBE0B"/>
                </a:solidFill>
                <a:latin typeface="Arial"/>
              </a:defRPr>
            </a:pPr>
            <a:r>
              <a:t>• Research Ethics Compliance:</a:t>
            </a:r>
          </a:p>
          <a:p>
            <a:pPr>
              <a:spcAft>
                <a:spcPts val="800"/>
              </a:spcAft>
              <a:defRPr sz="1000" b="0" i="0">
                <a:solidFill>
                  <a:srgbClr val="F5F7FA"/>
                </a:solidFill>
                <a:latin typeface="Arial"/>
              </a:defRPr>
            </a:pPr>
            <a:r>
              <a:t>Strictly zero real user credentials and zero breached databases used, complying with Menlo Report ethics guidelines.</a:t>
            </a:r>
          </a:p>
          <a:p>
            <a:pPr>
              <a:spcAft>
                <a:spcPts val="200"/>
              </a:spcAft>
              <a:defRPr sz="1100" b="1" i="0">
                <a:solidFill>
                  <a:srgbClr val="FFBE0B"/>
                </a:solidFill>
                <a:latin typeface="Arial"/>
              </a:defRPr>
            </a:pPr>
            <a:r>
              <a:t>• Controlled Heuristic Evaluation:</a:t>
            </a:r>
          </a:p>
          <a:p>
            <a:pPr>
              <a:spcAft>
                <a:spcPts val="800"/>
              </a:spcAft>
              <a:defRPr sz="1000" b="0" i="0">
                <a:solidFill>
                  <a:srgbClr val="F5F7FA"/>
                </a:solidFill>
                <a:latin typeface="Arial"/>
              </a:defRPr>
            </a:pPr>
            <a:r>
              <a:t>The experiment evaluates how consistently the scoring rules respond to structural variations. It is NOT an external cracking benchmark.</a:t>
            </a:r>
          </a:p>
          <a:p>
            <a:pPr>
              <a:spcAft>
                <a:spcPts val="200"/>
              </a:spcAft>
              <a:defRPr sz="1100" b="1" i="0">
                <a:solidFill>
                  <a:srgbClr val="FFBE0B"/>
                </a:solidFill>
                <a:latin typeface="Arial"/>
              </a:defRPr>
            </a:pPr>
            <a:r>
              <a:t>• Automated Test Harness:</a:t>
            </a:r>
          </a:p>
          <a:p>
            <a:pPr>
              <a:defRPr sz="1000" b="0" i="0">
                <a:solidFill>
                  <a:srgbClr val="F5F7FA"/>
                </a:solidFill>
                <a:latin typeface="Arial"/>
              </a:defRPr>
            </a:pPr>
            <a:r>
              <a:t>Node.js batch runner processes all 150 samples deterministically, exporting full score breakdowns and entropy estimates.</a:t>
            </a:r>
          </a:p>
        </p:txBody>
      </p:sp>
      <p:sp>
        <p:nvSpPr>
          <p:cNvPr id="9" name="Rounded Rectangle 8"/>
          <p:cNvSpPr/>
          <p:nvPr/>
        </p:nvSpPr>
        <p:spPr>
          <a:xfrm>
            <a:off x="5852160" y="1325880"/>
            <a:ext cx="5608015" cy="5029200"/>
          </a:xfrm>
          <a:prstGeom prst="roundRect">
            <a:avLst>
              <a:gd name="adj" fmla="val 3500"/>
            </a:avLst>
          </a:prstGeom>
          <a:solidFill>
            <a:srgbClr val="16213E"/>
          </a:solidFill>
          <a:ln w="1905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888736" y="1362456"/>
            <a:ext cx="5534863" cy="502920"/>
          </a:xfrm>
          <a:prstGeom prst="roundRect">
            <a:avLst>
              <a:gd name="adj" fmla="val 3500"/>
            </a:avLst>
          </a:prstGeom>
          <a:solidFill>
            <a:srgbClr val="1C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0" y="1435608"/>
            <a:ext cx="5059375" cy="365760"/>
          </a:xfrm>
          <a:prstGeom prst="rect">
            <a:avLst/>
          </a:prstGeom>
          <a:noFill/>
        </p:spPr>
        <p:txBody>
          <a:bodyPr wrap="square" lIns="0" tIns="0" rIns="0" bIns="0">
            <a:spAutoFit/>
          </a:bodyPr>
          <a:lstStyle/>
          <a:p>
            <a:pPr>
              <a:defRPr sz="1300" b="1">
                <a:solidFill>
                  <a:srgbClr val="00F5D4"/>
                </a:solidFill>
                <a:latin typeface="Arial"/>
              </a:defRPr>
            </a:pPr>
            <a:r>
              <a:t>The 5 Synthetic Password Categories (n = 30 each)</a:t>
            </a:r>
          </a:p>
        </p:txBody>
      </p:sp>
      <p:sp>
        <p:nvSpPr>
          <p:cNvPr id="12" name="TextBox 11"/>
          <p:cNvSpPr txBox="1"/>
          <p:nvPr/>
        </p:nvSpPr>
        <p:spPr>
          <a:xfrm>
            <a:off x="6080760" y="2011680"/>
            <a:ext cx="5120640" cy="4114800"/>
          </a:xfrm>
          <a:prstGeom prst="rect">
            <a:avLst/>
          </a:prstGeom>
          <a:noFill/>
        </p:spPr>
        <p:txBody>
          <a:bodyPr wrap="square">
            <a:spAutoFit/>
          </a:bodyPr>
          <a:lstStyle/>
          <a:p>
            <a:pPr>
              <a:spcAft>
                <a:spcPts val="200"/>
              </a:spcAft>
              <a:defRPr sz="1100" b="1" i="0">
                <a:solidFill>
                  <a:srgbClr val="FFBE0B"/>
                </a:solidFill>
                <a:latin typeface="Arial"/>
              </a:defRPr>
            </a:pPr>
            <a:r>
              <a:t>Category A — Short Simple (3–5 chars)</a:t>
            </a:r>
          </a:p>
          <a:p>
            <a:pPr>
              <a:spcAft>
                <a:spcPts val="600"/>
              </a:spcAft>
              <a:defRPr sz="1000" b="0" i="0">
                <a:solidFill>
                  <a:srgbClr val="F5F7FA"/>
                </a:solidFill>
                <a:latin typeface="Courier New"/>
              </a:defRPr>
            </a:pPr>
            <a:r>
              <a:t>Examples: 'cat', 'red2', 'sky9'</a:t>
            </a:r>
            <a:br/>
            <a:r>
              <a:t>Design: Minimal length, single pool, tiny combinatorial space.</a:t>
            </a:r>
          </a:p>
          <a:p>
            <a:pPr>
              <a:spcAft>
                <a:spcPts val="200"/>
              </a:spcAft>
              <a:defRPr sz="1100" b="1" i="0">
                <a:solidFill>
                  <a:srgbClr val="FFBE0B"/>
                </a:solidFill>
                <a:latin typeface="Arial"/>
              </a:defRPr>
            </a:pPr>
            <a:r>
              <a:t>Category B — Common Pattern (8–12 chars)</a:t>
            </a:r>
          </a:p>
          <a:p>
            <a:pPr>
              <a:spcAft>
                <a:spcPts val="600"/>
              </a:spcAft>
              <a:defRPr sz="1000" b="0" i="0">
                <a:solidFill>
                  <a:srgbClr val="F5F7FA"/>
                </a:solidFill>
                <a:latin typeface="Courier New"/>
              </a:defRPr>
            </a:pPr>
            <a:r>
              <a:t>Examples: 'password123', 'admin2024!', 'Summer2023!'</a:t>
            </a:r>
            <a:br/>
            <a:r>
              <a:t>Design: Dictionary roots, sequential digits, leetspeak, punctuation.</a:t>
            </a:r>
          </a:p>
          <a:p>
            <a:pPr>
              <a:spcAft>
                <a:spcPts val="200"/>
              </a:spcAft>
              <a:defRPr sz="1100" b="1" i="0">
                <a:solidFill>
                  <a:srgbClr val="FFBE0B"/>
                </a:solidFill>
                <a:latin typeface="Arial"/>
              </a:defRPr>
            </a:pPr>
            <a:r>
              <a:t>Category C — Medium Complexity (11–15 chars)</a:t>
            </a:r>
          </a:p>
          <a:p>
            <a:pPr>
              <a:spcAft>
                <a:spcPts val="600"/>
              </a:spcAft>
              <a:defRPr sz="1000" b="0" i="0">
                <a:solidFill>
                  <a:srgbClr val="F5F7FA"/>
                </a:solidFill>
                <a:latin typeface="Courier New"/>
              </a:defRPr>
            </a:pPr>
            <a:r>
              <a:t>Examples: 'BlueSky#49', 'Silver!Fox82', 'GreenForest*21'</a:t>
            </a:r>
            <a:br/>
            <a:r>
              <a:t>Design: Traditional enterprise complexity rules (mixed case, numbers, symbols).</a:t>
            </a:r>
          </a:p>
          <a:p>
            <a:pPr>
              <a:spcAft>
                <a:spcPts val="200"/>
              </a:spcAft>
              <a:defRPr sz="1100" b="1" i="0">
                <a:solidFill>
                  <a:srgbClr val="FFBE0B"/>
                </a:solidFill>
                <a:latin typeface="Arial"/>
              </a:defRPr>
            </a:pPr>
            <a:r>
              <a:t>Category D — Long Passphrases (25–36 chars)</a:t>
            </a:r>
          </a:p>
          <a:p>
            <a:pPr>
              <a:spcAft>
                <a:spcPts val="600"/>
              </a:spcAft>
              <a:defRPr sz="1000" b="0" i="0">
                <a:solidFill>
                  <a:srgbClr val="F5F7FA"/>
                </a:solidFill>
                <a:latin typeface="Courier New"/>
              </a:defRPr>
            </a:pPr>
            <a:r>
              <a:t>Examples: 'correct-horse-battery-staple', 'apple-mountain-river-winter'</a:t>
            </a:r>
            <a:br/>
            <a:r>
              <a:t>Design: Multi-word sequences with hyphens; large length, low alphabet diversity.</a:t>
            </a:r>
          </a:p>
          <a:p>
            <a:pPr>
              <a:spcAft>
                <a:spcPts val="200"/>
              </a:spcAft>
              <a:defRPr sz="1100" b="1" i="0">
                <a:solidFill>
                  <a:srgbClr val="FFBE0B"/>
                </a:solidFill>
                <a:latin typeface="Arial"/>
              </a:defRPr>
            </a:pPr>
            <a:r>
              <a:t>Category E — Long Random (16 chars)</a:t>
            </a:r>
          </a:p>
          <a:p>
            <a:pPr>
              <a:spcAft>
                <a:spcPts val="600"/>
              </a:spcAft>
              <a:defRPr sz="1000" b="0" i="0">
                <a:solidFill>
                  <a:srgbClr val="F5F7FA"/>
                </a:solidFill>
                <a:latin typeface="Courier New"/>
              </a:defRPr>
            </a:pPr>
            <a:r>
              <a:t>Examples: '7$zW#9!kLp&amp;2Qx@m', 'k9#mP$2vL&amp;8xQ!zR'</a:t>
            </a:r>
            <a:br/>
            <a:r>
              <a:t>Design: Pseudo-random selection across all 95 printable ASCII characters.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0F5D4"/>
                </a:solidFill>
                <a:latin typeface="Arial"/>
              </a:defRPr>
            </a:pPr>
            <a:r>
              <a:t>EMPIRICAL FINDINGS</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200" b="1">
                <a:solidFill>
                  <a:srgbClr val="F5F7FA"/>
                </a:solidFill>
                <a:latin typeface="Arial"/>
              </a:defRPr>
            </a:pPr>
            <a:r>
              <a:t>Experimental Results: Quantitative Observations Across Categories</a:t>
            </a:r>
          </a:p>
        </p:txBody>
      </p:sp>
      <p:sp>
        <p:nvSpPr>
          <p:cNvPr id="5" name="Rounded Rectangle 4"/>
          <p:cNvSpPr/>
          <p:nvPr/>
        </p:nvSpPr>
        <p:spPr>
          <a:xfrm>
            <a:off x="731520" y="1325880"/>
            <a:ext cx="5486400" cy="5029200"/>
          </a:xfrm>
          <a:prstGeom prst="roundRect">
            <a:avLst>
              <a:gd name="adj" fmla="val 3500"/>
            </a:avLst>
          </a:prstGeom>
          <a:solidFill>
            <a:srgbClr val="16213E"/>
          </a:solidFill>
          <a:ln w="19050">
            <a:solidFill>
              <a:srgbClr val="3A8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68096" y="1362456"/>
            <a:ext cx="5413248" cy="502920"/>
          </a:xfrm>
          <a:prstGeom prst="roundRect">
            <a:avLst>
              <a:gd name="adj" fmla="val 3500"/>
            </a:avLst>
          </a:prstGeom>
          <a:solidFill>
            <a:srgbClr val="1C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35608"/>
            <a:ext cx="4937760" cy="365760"/>
          </a:xfrm>
          <a:prstGeom prst="rect">
            <a:avLst/>
          </a:prstGeom>
          <a:noFill/>
        </p:spPr>
        <p:txBody>
          <a:bodyPr wrap="square" lIns="0" tIns="0" rIns="0" bIns="0">
            <a:spAutoFit/>
          </a:bodyPr>
          <a:lstStyle/>
          <a:p>
            <a:pPr>
              <a:defRPr sz="1300" b="1">
                <a:solidFill>
                  <a:srgbClr val="3A86FF"/>
                </a:solidFill>
                <a:latin typeface="Arial"/>
              </a:defRPr>
            </a:pPr>
            <a:r>
              <a:t>Score Distribution by Category</a:t>
            </a:r>
          </a:p>
        </p:txBody>
      </p:sp>
      <p:sp>
        <p:nvSpPr>
          <p:cNvPr id="8" name="Rounded Rectangle 7"/>
          <p:cNvSpPr/>
          <p:nvPr/>
        </p:nvSpPr>
        <p:spPr>
          <a:xfrm>
            <a:off x="960120" y="2011680"/>
            <a:ext cx="5029200" cy="4069080"/>
          </a:xfrm>
          <a:prstGeom prst="roundRect">
            <a:avLst>
              <a:gd name="adj" fmla="val 3000"/>
            </a:avLst>
          </a:prstGeom>
          <a:solidFill>
            <a:srgbClr val="FFFFFF"/>
          </a:solidFill>
          <a:ln w="12700">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category_scores.png"/>
          <p:cNvPicPr>
            <a:picLocks noChangeAspect="1"/>
          </p:cNvPicPr>
          <p:nvPr/>
        </p:nvPicPr>
        <p:blipFill>
          <a:blip r:embed="rId2"/>
          <a:stretch>
            <a:fillRect/>
          </a:stretch>
        </p:blipFill>
        <p:spPr>
          <a:xfrm>
            <a:off x="1051560" y="2148840"/>
            <a:ext cx="4846320" cy="2833233"/>
          </a:xfrm>
          <a:prstGeom prst="rect">
            <a:avLst/>
          </a:prstGeom>
        </p:spPr>
      </p:pic>
      <p:sp>
        <p:nvSpPr>
          <p:cNvPr id="10" name="Rounded Rectangle 9"/>
          <p:cNvSpPr/>
          <p:nvPr/>
        </p:nvSpPr>
        <p:spPr>
          <a:xfrm>
            <a:off x="6583680" y="1325880"/>
            <a:ext cx="4876495" cy="5029200"/>
          </a:xfrm>
          <a:prstGeom prst="roundRect">
            <a:avLst>
              <a:gd name="adj" fmla="val 3500"/>
            </a:avLst>
          </a:prstGeom>
          <a:solidFill>
            <a:srgbClr val="16213E"/>
          </a:solidFill>
          <a:ln w="1905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20256" y="1362456"/>
            <a:ext cx="4803343" cy="502920"/>
          </a:xfrm>
          <a:prstGeom prst="roundRect">
            <a:avLst>
              <a:gd name="adj" fmla="val 3500"/>
            </a:avLst>
          </a:prstGeom>
          <a:solidFill>
            <a:srgbClr val="1C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1435608"/>
            <a:ext cx="4327855" cy="365760"/>
          </a:xfrm>
          <a:prstGeom prst="rect">
            <a:avLst/>
          </a:prstGeom>
          <a:noFill/>
        </p:spPr>
        <p:txBody>
          <a:bodyPr wrap="square" lIns="0" tIns="0" rIns="0" bIns="0">
            <a:spAutoFit/>
          </a:bodyPr>
          <a:lstStyle/>
          <a:p>
            <a:pPr>
              <a:defRPr sz="1300" b="1">
                <a:solidFill>
                  <a:srgbClr val="00F5D4"/>
                </a:solidFill>
                <a:latin typeface="Arial"/>
              </a:defRPr>
            </a:pPr>
            <a:r>
              <a:t>Frozen Results Summary (N = 150)</a:t>
            </a:r>
          </a:p>
        </p:txBody>
      </p:sp>
      <p:sp>
        <p:nvSpPr>
          <p:cNvPr id="13" name="TextBox 12"/>
          <p:cNvSpPr txBox="1"/>
          <p:nvPr/>
        </p:nvSpPr>
        <p:spPr>
          <a:xfrm>
            <a:off x="6812280" y="2011680"/>
            <a:ext cx="4389120" cy="4114800"/>
          </a:xfrm>
          <a:prstGeom prst="rect">
            <a:avLst/>
          </a:prstGeom>
          <a:noFill/>
        </p:spPr>
        <p:txBody>
          <a:bodyPr wrap="square">
            <a:spAutoFit/>
          </a:bodyPr>
          <a:lstStyle/>
          <a:p>
            <a:pPr>
              <a:spcAft>
                <a:spcPts val="400"/>
              </a:spcAft>
              <a:defRPr sz="1200" b="1" i="0">
                <a:solidFill>
                  <a:srgbClr val="FFBE0B"/>
                </a:solidFill>
                <a:latin typeface="Arial"/>
              </a:defRPr>
            </a:pPr>
            <a:r>
              <a:t>Overall Tier Distribution:</a:t>
            </a:r>
          </a:p>
          <a:p>
            <a:pPr>
              <a:spcAft>
                <a:spcPts val="1000"/>
              </a:spcAft>
              <a:defRPr sz="1100" b="0" i="0">
                <a:solidFill>
                  <a:srgbClr val="F5F7FA"/>
                </a:solidFill>
                <a:latin typeface="Courier New"/>
              </a:defRPr>
            </a:pPr>
            <a:r>
              <a:t>• Weak (0–39): 59 / 150 (39.3%)</a:t>
            </a:r>
            <a:br/>
            <a:r>
              <a:t>• Medium (40–69): 12 / 150 (8.0%)</a:t>
            </a:r>
            <a:br/>
            <a:r>
              <a:t>• Strong (70–100): 79 / 150 (52.7%)</a:t>
            </a:r>
          </a:p>
          <a:p>
            <a:pPr>
              <a:spcAft>
                <a:spcPts val="400"/>
              </a:spcAft>
              <a:defRPr sz="1200" b="1" i="0">
                <a:solidFill>
                  <a:srgbClr val="FFBE0B"/>
                </a:solidFill>
                <a:latin typeface="Arial"/>
              </a:defRPr>
            </a:pPr>
            <a:r>
              <a:t>Key Category Observations:</a:t>
            </a:r>
          </a:p>
          <a:p>
            <a:pPr>
              <a:spcAft>
                <a:spcPts val="500"/>
              </a:spcAft>
              <a:defRPr sz="1000" b="0" i="0">
                <a:solidFill>
                  <a:srgbClr val="F5F7FA"/>
                </a:solidFill>
                <a:latin typeface="Arial"/>
              </a:defRPr>
            </a:pPr>
            <a:r>
              <a:t>• Cat E (Long Random): Achieved highest average score: 90.0 / 100. 100% classified as Strong.</a:t>
            </a:r>
          </a:p>
          <a:p>
            <a:pPr>
              <a:spcAft>
                <a:spcPts val="500"/>
              </a:spcAft>
              <a:defRPr sz="1000" b="0" i="0">
                <a:solidFill>
                  <a:srgbClr val="F5F7FA"/>
                </a:solidFill>
                <a:latin typeface="Arial"/>
              </a:defRPr>
            </a:pPr>
            <a:r>
              <a:t>• Cat D (Long Passphrases): Highest theoretical entropy estimate: 182.9 bits (avg len 29.5 chars). 70.0% Strong, 30.0% Medium.</a:t>
            </a:r>
          </a:p>
          <a:p>
            <a:pPr>
              <a:spcAft>
                <a:spcPts val="500"/>
              </a:spcAft>
              <a:defRPr sz="1000" b="0" i="0">
                <a:solidFill>
                  <a:srgbClr val="F5F7FA"/>
                </a:solidFill>
                <a:latin typeface="Arial"/>
              </a:defRPr>
            </a:pPr>
            <a:r>
              <a:t>• Cat C (Medium Complexity): Average score 80.8 / 100; 93.3% Strong, 6.7% Medium.</a:t>
            </a:r>
          </a:p>
          <a:p>
            <a:pPr>
              <a:spcAft>
                <a:spcPts val="500"/>
              </a:spcAft>
              <a:defRPr sz="1000" b="0" i="0">
                <a:solidFill>
                  <a:srgbClr val="F5F7FA"/>
                </a:solidFill>
                <a:latin typeface="Arial"/>
              </a:defRPr>
            </a:pPr>
            <a:r>
              <a:t>• Cat B (Common Pattern): Average score collapsed to 10.5 / 100 (96.7% Weak) due to pattern penalties despite containing symbols.</a:t>
            </a:r>
          </a:p>
          <a:p>
            <a:pPr>
              <a:spcAft>
                <a:spcPts val="500"/>
              </a:spcAft>
              <a:defRPr sz="1000" b="0" i="0">
                <a:solidFill>
                  <a:srgbClr val="F5F7FA"/>
                </a:solidFill>
                <a:latin typeface="Arial"/>
              </a:defRPr>
            </a:pPr>
            <a:r>
              <a:t>• Cat A (Short Simple): Lowest score: 2.0 / 100 (100% Weak).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0F5D4"/>
                </a:solidFill>
                <a:latin typeface="Arial"/>
              </a:defRPr>
            </a:pPr>
            <a:r>
              <a:t>SUMMARY &amp; CONCLUSION</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200" b="1">
                <a:solidFill>
                  <a:srgbClr val="F5F7FA"/>
                </a:solidFill>
                <a:latin typeface="Arial"/>
              </a:defRPr>
            </a:pPr>
            <a:r>
              <a:t>Academic Limitations, Core Takeaways, and Conclusion</a:t>
            </a:r>
          </a:p>
        </p:txBody>
      </p:sp>
      <p:sp>
        <p:nvSpPr>
          <p:cNvPr id="5" name="Rounded Rectangle 4"/>
          <p:cNvSpPr/>
          <p:nvPr/>
        </p:nvSpPr>
        <p:spPr>
          <a:xfrm>
            <a:off x="731520" y="1325880"/>
            <a:ext cx="5120640" cy="3931920"/>
          </a:xfrm>
          <a:prstGeom prst="roundRect">
            <a:avLst>
              <a:gd name="adj" fmla="val 3500"/>
            </a:avLst>
          </a:prstGeom>
          <a:solidFill>
            <a:srgbClr val="16213E"/>
          </a:solidFill>
          <a:ln w="19050">
            <a:solidFill>
              <a:srgbClr val="FFB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68096" y="1362456"/>
            <a:ext cx="5047488" cy="502920"/>
          </a:xfrm>
          <a:prstGeom prst="roundRect">
            <a:avLst>
              <a:gd name="adj" fmla="val 3500"/>
            </a:avLst>
          </a:prstGeom>
          <a:solidFill>
            <a:srgbClr val="1C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35608"/>
            <a:ext cx="4572000" cy="365760"/>
          </a:xfrm>
          <a:prstGeom prst="rect">
            <a:avLst/>
          </a:prstGeom>
          <a:noFill/>
        </p:spPr>
        <p:txBody>
          <a:bodyPr wrap="square" lIns="0" tIns="0" rIns="0" bIns="0">
            <a:spAutoFit/>
          </a:bodyPr>
          <a:lstStyle/>
          <a:p>
            <a:pPr>
              <a:defRPr sz="1300" b="1">
                <a:solidFill>
                  <a:srgbClr val="FFBE0B"/>
                </a:solidFill>
                <a:latin typeface="Arial"/>
              </a:defRPr>
            </a:pPr>
            <a:r>
              <a:t>Academic &amp; Methodological Limitations</a:t>
            </a:r>
          </a:p>
        </p:txBody>
      </p:sp>
      <p:sp>
        <p:nvSpPr>
          <p:cNvPr id="8" name="TextBox 7"/>
          <p:cNvSpPr txBox="1"/>
          <p:nvPr/>
        </p:nvSpPr>
        <p:spPr>
          <a:xfrm>
            <a:off x="960120" y="2011680"/>
            <a:ext cx="4663440" cy="3108960"/>
          </a:xfrm>
          <a:prstGeom prst="rect">
            <a:avLst/>
          </a:prstGeom>
          <a:noFill/>
        </p:spPr>
        <p:txBody>
          <a:bodyPr wrap="square">
            <a:spAutoFit/>
          </a:bodyPr>
          <a:lstStyle/>
          <a:p>
            <a:pPr>
              <a:spcAft>
                <a:spcPts val="600"/>
              </a:spcAft>
              <a:defRPr sz="1000" b="0" i="0">
                <a:solidFill>
                  <a:srgbClr val="F5F7FA"/>
                </a:solidFill>
                <a:latin typeface="Arial"/>
              </a:defRPr>
            </a:pPr>
            <a:r>
              <a:t>• Circularity Constraint: The experiment demonstrates internal behavioral consistency of the heuristic, NOT an independent real-world cracking proof.</a:t>
            </a:r>
          </a:p>
          <a:p>
            <a:pPr>
              <a:spcAft>
                <a:spcPts val="600"/>
              </a:spcAft>
              <a:defRPr sz="1000" b="0" i="0">
                <a:solidFill>
                  <a:srgbClr val="F5F7FA"/>
                </a:solidFill>
                <a:latin typeface="Arial"/>
              </a:defRPr>
            </a:pPr>
            <a:r>
              <a:t>• Synthetic Dataset Scope: A controlled synthetic sample (N=150) isolates structural variables but does not replicate the full behavioral distribution of real user passwords.</a:t>
            </a:r>
          </a:p>
          <a:p>
            <a:pPr>
              <a:spcAft>
                <a:spcPts val="600"/>
              </a:spcAft>
              <a:defRPr sz="1000" b="0" i="0">
                <a:solidFill>
                  <a:srgbClr val="F5F7FA"/>
                </a:solidFill>
                <a:latin typeface="Arial"/>
              </a:defRPr>
            </a:pPr>
            <a:r>
              <a:t>• Theoretical Entropy Bounds: The metric E = L × log₂(R) assumes ideal uniform random selection, whereas human passwords exhibit significant natural language bias.</a:t>
            </a:r>
          </a:p>
          <a:p>
            <a:pPr>
              <a:defRPr sz="1000" b="0" i="0">
                <a:solidFill>
                  <a:srgbClr val="F5F7FA"/>
                </a:solidFill>
                <a:latin typeface="Arial"/>
              </a:defRPr>
            </a:pPr>
            <a:r>
              <a:t>• Illustrative Guessing Rates: The 100, 10⁷, and 10¹¹ guesses/sec models are assumed illustrative scenarios, not physical hardware benchmarks.</a:t>
            </a:r>
          </a:p>
        </p:txBody>
      </p:sp>
      <p:sp>
        <p:nvSpPr>
          <p:cNvPr id="9" name="Rounded Rectangle 8"/>
          <p:cNvSpPr/>
          <p:nvPr/>
        </p:nvSpPr>
        <p:spPr>
          <a:xfrm>
            <a:off x="6217920" y="1325880"/>
            <a:ext cx="5242255" cy="3931920"/>
          </a:xfrm>
          <a:prstGeom prst="roundRect">
            <a:avLst>
              <a:gd name="adj" fmla="val 3500"/>
            </a:avLst>
          </a:prstGeom>
          <a:solidFill>
            <a:srgbClr val="16213E"/>
          </a:solidFill>
          <a:ln w="19050">
            <a:solidFill>
              <a:srgbClr val="38D9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54496" y="1362456"/>
            <a:ext cx="5169103" cy="502920"/>
          </a:xfrm>
          <a:prstGeom prst="roundRect">
            <a:avLst>
              <a:gd name="adj" fmla="val 3500"/>
            </a:avLst>
          </a:prstGeom>
          <a:solidFill>
            <a:srgbClr val="1C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35608"/>
            <a:ext cx="4693615" cy="365760"/>
          </a:xfrm>
          <a:prstGeom prst="rect">
            <a:avLst/>
          </a:prstGeom>
          <a:noFill/>
        </p:spPr>
        <p:txBody>
          <a:bodyPr wrap="square" lIns="0" tIns="0" rIns="0" bIns="0">
            <a:spAutoFit/>
          </a:bodyPr>
          <a:lstStyle/>
          <a:p>
            <a:pPr>
              <a:defRPr sz="1300" b="1">
                <a:solidFill>
                  <a:srgbClr val="38D98A"/>
                </a:solidFill>
                <a:latin typeface="Arial"/>
              </a:defRPr>
            </a:pPr>
            <a:r>
              <a:t>Core Security Takeaways</a:t>
            </a:r>
          </a:p>
        </p:txBody>
      </p:sp>
      <p:sp>
        <p:nvSpPr>
          <p:cNvPr id="12" name="TextBox 11"/>
          <p:cNvSpPr txBox="1"/>
          <p:nvPr/>
        </p:nvSpPr>
        <p:spPr>
          <a:xfrm>
            <a:off x="6446520" y="2011680"/>
            <a:ext cx="4754880" cy="3108960"/>
          </a:xfrm>
          <a:prstGeom prst="rect">
            <a:avLst/>
          </a:prstGeom>
          <a:noFill/>
        </p:spPr>
        <p:txBody>
          <a:bodyPr wrap="square">
            <a:spAutoFit/>
          </a:bodyPr>
          <a:lstStyle/>
          <a:p>
            <a:pPr>
              <a:spcAft>
                <a:spcPts val="600"/>
              </a:spcAft>
              <a:defRPr sz="1000" b="0" i="0">
                <a:solidFill>
                  <a:srgbClr val="F5F7FA"/>
                </a:solidFill>
                <a:latin typeface="Arial"/>
              </a:defRPr>
            </a:pPr>
            <a:r>
              <a:t>• Length Dominates Exponent: Password length expands the theoretical search space exponentially (R^L). Passphrases provide an effective, memorable defense.</a:t>
            </a:r>
          </a:p>
          <a:p>
            <a:pPr>
              <a:spcAft>
                <a:spcPts val="600"/>
              </a:spcAft>
              <a:defRPr sz="1000" b="0" i="0">
                <a:solidFill>
                  <a:srgbClr val="F5F7FA"/>
                </a:solidFill>
                <a:latin typeface="Arial"/>
              </a:defRPr>
            </a:pPr>
            <a:r>
              <a:t>• Superficial Complexity Fails: Appending '123!' or capitalizing the first letter does not deceive modern attack tools.</a:t>
            </a:r>
          </a:p>
          <a:p>
            <a:pPr>
              <a:spcAft>
                <a:spcPts val="600"/>
              </a:spcAft>
              <a:defRPr sz="1000" b="0" i="0">
                <a:solidFill>
                  <a:srgbClr val="F5F7FA"/>
                </a:solidFill>
                <a:latin typeface="Arial"/>
              </a:defRPr>
            </a:pPr>
            <a:r>
              <a:t>• Password ≠ Authentication Security: Strong passwords alone cannot stop phishing or credential stuffing; authentication requires defense in depth.</a:t>
            </a:r>
          </a:p>
          <a:p>
            <a:pPr>
              <a:defRPr sz="1000" b="0" i="0">
                <a:solidFill>
                  <a:srgbClr val="F5F7FA"/>
                </a:solidFill>
                <a:latin typeface="Arial"/>
              </a:defRPr>
            </a:pPr>
            <a:r>
              <a:t>• Essential Defense Triad: 1. Password managers for unique credentials. 2. Slow memory-hard hashing (Argon2id). 3. Universal Multi-Factor Authentication (MFA).</a:t>
            </a:r>
          </a:p>
        </p:txBody>
      </p:sp>
      <p:sp>
        <p:nvSpPr>
          <p:cNvPr id="13" name="Rounded Rectangle 12"/>
          <p:cNvSpPr/>
          <p:nvPr/>
        </p:nvSpPr>
        <p:spPr>
          <a:xfrm>
            <a:off x="731520" y="5486400"/>
            <a:ext cx="10728655" cy="914400"/>
          </a:xfrm>
          <a:prstGeom prst="roundRect">
            <a:avLst>
              <a:gd name="adj" fmla="val 4000"/>
            </a:avLst>
          </a:prstGeom>
          <a:solidFill>
            <a:srgbClr val="13203C"/>
          </a:solidFill>
          <a:ln w="1905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596128"/>
            <a:ext cx="10149840" cy="685800"/>
          </a:xfrm>
          <a:prstGeom prst="rect">
            <a:avLst/>
          </a:prstGeom>
          <a:noFill/>
        </p:spPr>
        <p:txBody>
          <a:bodyPr wrap="none">
            <a:spAutoFit/>
          </a:bodyPr>
          <a:lstStyle/>
          <a:p>
            <a:pPr algn="ctr">
              <a:defRPr sz="1600" b="1" i="0">
                <a:solidFill>
                  <a:srgbClr val="F5F7FA"/>
                </a:solidFill>
                <a:latin typeface="Arial"/>
              </a:defRPr>
            </a:pPr>
            <a:r>
              <a:t>Thank You for Your Attention!  •  Questions &amp; Answers Welcome</a:t>
            </a:r>
          </a:p>
          <a:p>
            <a:pPr algn="ctr">
              <a:defRPr sz="1100" b="0" i="0">
                <a:solidFill>
                  <a:srgbClr val="00F5D4"/>
                </a:solidFill>
                <a:latin typeface="Arial"/>
              </a:defRPr>
            </a:pPr>
            <a:r>
              <a:t>Repository: ducknhat/password-pro  |  PasswordGuard: Client-Side Educational Security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