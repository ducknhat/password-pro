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teacher and classmates. Today, our team is happy to present our project: PasswordGuard. Before we start, I want to ask everyone a quick question: Which of these two passwords do you think is stronger against a computer attack? Option A: P@ssw0rd123, or Option B: correct-horse-battery-staple? Many people choose Option A because of the special characters. But under a simple exhaustive search-space model, Option B actually has a much larger theoretical search space. However, real password security also depends on predictability, hashing, rate limiting, and other defenses. Let us look at why passwords are still such a big challenge.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are passwords still broken so often? First, users manage 50 or more accounts. Random strings are very hard to remember, so people take predictable shortcuts: reusing passwords or replacing the letter 'a' with '@'. Second, attackers use automated tools with wordlists of millions of leaked passwords. Third, old complexity rules created a false sense of security: asking for one capital letter and one number taught people to write 'Summer2024!', which guessing tools test very early. PasswordGuard helps students see these risks through an interactive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password defense, we can look at a simple mathematical model. In modern systems, the user proves knowledge of a secret, while the server verifies it against a stored cryptographic verifier. Under exhaustive brute force, total combinations equal R to the power of L. In this theoretical model, increasing length has an exponential effect because length is the exponent. An 8-character password with all ASCII characters yields about 6.6 times 10 to the 15th combinations. In contrast, a 28-character passphrase yields about 1.2 times 10 to the 40th combinations. Notice that the guessing times shown are illustrative assumed rates, not a hardware benchmark.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real world, attackers use several methods: wordlists, credential stuffing across sites, offline hash recovery, and phishing. Because of these threats, password strength alone cannot guarantee security. We need defense in depth: password managers so every account has a unique password, Multi-Factor Authentication so a stolen password alone is not enough, and slow memory-hard hashing alongside rate limiting.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demonstrate these ideas, we built PasswordGuard. PasswordGuard is a single-page web app built with React, TypeScript, and Vite. A key design choice is our local processing approach: PasswordGuard is designed to process entered passwords locally in the browser. It does not include an application backend for password submission, and it does not store passwords in a database or send tracking data. For cryptographic hashing, the app uses the browser's built-in Web Crypto API.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PasswordGuard evaluates passwords using two main metrics: First, a transparent heuristic score from 0 to 100. It awards length points up to 40 using tiered brackets, variety points up to 35, diversity bonuses up to 15, and passphrase bonuses up to 20 for long passphrases with diverse characters or word separators. The heuristic subtracts penalties for sequential patterns, repeated characters, dictionary roots, and short lengths. The final score classifies passwords into Weak, Medium, or Strong. Second, the app calculates a theoretical character-space entropy estimate in bits, assuming uniform random selection.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Servers should never store passwords in plain text. Instead, they store a cryptographic hash. A hash function is one-way: easy to compute forward, but practically impossible to reverse. A well-designed hash exhibits an avalanche effect: a small input change tends to change roughly half of the output bits. To protect stored hashes, servers add a unique random salt for each user. Unique salts make traditional precomputed rainbow-table attacks impractical across many users. Important security distinction: PasswordGuard uses SHA-256 only for educational demonstration in the browser. Because SHA-256 is a fast general-purpose hash, raw SHA-256 is not appropriate for production password storage. Production systems should use password-focused functions such as Argon2id, bcrypt, scrypt, or PBKDF2 with appropriate parameters.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whether our scoring rules behave consistently, we ran a controlled experiment. To follow research ethics, we did not use real user credentials or leaked databases. Instead, we tested a controlled synthetic dataset of 150 passwords, divided into five categories of 30 passwords each: Category A: Short Simple, Category B: Common Pattern, Category C: Medium Complexity, Category D: Long Passphrases, and Category E: Long Random. We ran all 150 passwords through our analyzer using an automated test script.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empirical results from our experiment. Across all 150 synthetic passwords, our heuristic classified 59 as Weak, 12 as Medium, and 79 as Strong. Looking at the chart: Category E had the highest average score of 90.0 out of 100, with 100% rated Strong. Category D had the highest theoretical entropy estimate of 182.9 bits, with 70% Strong and 30% Medium. Category C averaged 80.8 out of 100, with 93.3% Strong. Now look at Category B: even though these passwords contained uppercase letters, digits, and symbols, their average score collapsed to 10.5 out of 100, and 96.7% were rated Weak. This demonstrates that our heuristic heavily penalizes common patterns. Category A averaged 2.0 out of 100.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academically honest, we must acknowledge our project's limitations: First, circularity: the experiment evaluates the internal consistency of our heuristic rules, rather than testing real-world cracking resistance. Second, our synthetic dataset does not capture the full variety of real user passwords. Third, our entropy estimate assumes uniform random selection, while real human passwords have predictable habits. Despite these limitations, our core security takeaways are clear: in simple search-space models, length provides an exponential advantage, superficial complexity fails, and defense in depth is essential—combining password managers, slow memory-hard hashing, and Multi-Factor Authentication. Thank you very much for your time. We are now ready to answer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2895" cy="320040"/>
          </a:xfrm>
          <a:prstGeom prst="rect">
            <a:avLst/>
          </a:prstGeom>
          <a:noFill/>
        </p:spPr>
        <p:txBody>
          <a:bodyPr wrap="none">
            <a:spAutoFit/>
          </a:bodyPr>
          <a:lstStyle/>
          <a:p>
            <a:pPr>
              <a:defRPr sz="1100" b="1" i="0">
                <a:solidFill>
                  <a:srgbClr val="00F5D4"/>
                </a:solidFill>
                <a:latin typeface="Arial"/>
              </a:defRPr>
            </a:pPr>
            <a:r>
              <a:t>ENGLISH WRITING &amp; PRESENTATION SKILLS — FINAL ORAL DEFENSE</a:t>
            </a:r>
          </a:p>
        </p:txBody>
      </p:sp>
      <p:sp>
        <p:nvSpPr>
          <p:cNvPr id="4" name="TextBox 3"/>
          <p:cNvSpPr txBox="1"/>
          <p:nvPr/>
        </p:nvSpPr>
        <p:spPr>
          <a:xfrm>
            <a:off x="914400" y="1051560"/>
            <a:ext cx="10362895" cy="1280160"/>
          </a:xfrm>
          <a:prstGeom prst="rect">
            <a:avLst/>
          </a:prstGeom>
          <a:noFill/>
        </p:spPr>
        <p:txBody>
          <a:bodyPr wrap="square">
            <a:spAutoFit/>
          </a:bodyPr>
          <a:lstStyle/>
          <a:p>
            <a:pPr>
              <a:defRPr sz="2800" b="1" i="0">
                <a:solidFill>
                  <a:srgbClr val="F5F7FA"/>
                </a:solidFill>
                <a:latin typeface="Arial"/>
              </a:defRPr>
            </a:pPr>
            <a:r>
              <a:t>PasswordGuard: An Experimental Analysis of</a:t>
            </a:r>
            <a:br/>
            <a:r>
              <a:t>Password Strength and Authentication Security</a:t>
            </a:r>
          </a:p>
        </p:txBody>
      </p:sp>
      <p:sp>
        <p:nvSpPr>
          <p:cNvPr id="5" name="Rounded Rectangle 4"/>
          <p:cNvSpPr/>
          <p:nvPr/>
        </p:nvSpPr>
        <p:spPr>
          <a:xfrm>
            <a:off x="914400" y="2514600"/>
            <a:ext cx="10362895" cy="1005840"/>
          </a:xfrm>
          <a:prstGeom prst="roundRect">
            <a:avLst>
              <a:gd name="adj" fmla="val 3500"/>
            </a:avLst>
          </a:prstGeom>
          <a:solidFill>
            <a:srgbClr val="16213E"/>
          </a:solidFill>
          <a:ln w="19050">
            <a:solidFill>
              <a:srgbClr val="3C50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651760"/>
            <a:ext cx="9784080" cy="731520"/>
          </a:xfrm>
          <a:prstGeom prst="rect">
            <a:avLst/>
          </a:prstGeom>
          <a:noFill/>
        </p:spPr>
        <p:txBody>
          <a:bodyPr wrap="none">
            <a:spAutoFit/>
          </a:bodyPr>
          <a:lstStyle/>
          <a:p>
            <a:pPr>
              <a:spcAft>
                <a:spcPts val="400"/>
              </a:spcAft>
              <a:defRPr sz="1200" b="1" i="0">
                <a:solidFill>
                  <a:srgbClr val="F5F7FA"/>
                </a:solidFill>
                <a:latin typeface="Arial"/>
              </a:defRPr>
            </a:pPr>
            <a:r>
              <a:t>Student Researchers: Nguyen Duc Nhat (22001594)  •  Hoang Minh Duc (22002598)  •  Pham Tuan Phong (22002621)</a:t>
            </a:r>
          </a:p>
          <a:p>
            <a:pPr>
              <a:defRPr sz="1100" b="0" i="0">
                <a:solidFill>
                  <a:srgbClr val="A5B2C6"/>
                </a:solidFill>
                <a:latin typeface="Arial"/>
              </a:defRPr>
            </a:pPr>
            <a:r>
              <a:t>Course: English Writing and Presentation Skills  •  Framework: React 19 / TypeScript / Client-Side Web Crypto</a:t>
            </a:r>
          </a:p>
        </p:txBody>
      </p:sp>
      <p:sp>
        <p:nvSpPr>
          <p:cNvPr id="7" name="Rounded Rectangle 6"/>
          <p:cNvSpPr/>
          <p:nvPr/>
        </p:nvSpPr>
        <p:spPr>
          <a:xfrm>
            <a:off x="914400" y="3794760"/>
            <a:ext cx="10362895" cy="2468880"/>
          </a:xfrm>
          <a:prstGeom prst="roundRect">
            <a:avLst>
              <a:gd name="adj" fmla="val 3500"/>
            </a:avLst>
          </a:prstGeom>
          <a:solidFill>
            <a:srgbClr val="16213E"/>
          </a:solidFill>
          <a:ln w="19050">
            <a:solidFill>
              <a:srgbClr val="FFB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0976" y="3831336"/>
            <a:ext cx="10289743"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904488"/>
            <a:ext cx="9814255" cy="365760"/>
          </a:xfrm>
          <a:prstGeom prst="rect">
            <a:avLst/>
          </a:prstGeom>
          <a:noFill/>
        </p:spPr>
        <p:txBody>
          <a:bodyPr wrap="square" lIns="0" tIns="0" rIns="0" bIns="0">
            <a:spAutoFit/>
          </a:bodyPr>
          <a:lstStyle/>
          <a:p>
            <a:pPr>
              <a:defRPr sz="1300" b="1">
                <a:solidFill>
                  <a:srgbClr val="FFBE0B"/>
                </a:solidFill>
                <a:latin typeface="Arial"/>
              </a:defRPr>
            </a:pPr>
            <a:r>
              <a:t>⚡ Opening Question for the Audience</a:t>
            </a:r>
          </a:p>
        </p:txBody>
      </p:sp>
      <p:sp>
        <p:nvSpPr>
          <p:cNvPr id="10" name="TextBox 9"/>
          <p:cNvSpPr txBox="1"/>
          <p:nvPr/>
        </p:nvSpPr>
        <p:spPr>
          <a:xfrm>
            <a:off x="1280160" y="4480560"/>
            <a:ext cx="9601200" cy="1645920"/>
          </a:xfrm>
          <a:prstGeom prst="rect">
            <a:avLst/>
          </a:prstGeom>
          <a:noFill/>
        </p:spPr>
        <p:txBody>
          <a:bodyPr wrap="square">
            <a:spAutoFit/>
          </a:bodyPr>
          <a:lstStyle/>
          <a:p>
            <a:pPr>
              <a:spcAft>
                <a:spcPts val="600"/>
              </a:spcAft>
              <a:defRPr sz="1400" b="1" i="0">
                <a:solidFill>
                  <a:srgbClr val="F5F7FA"/>
                </a:solidFill>
                <a:latin typeface="Arial"/>
              </a:defRPr>
            </a:pPr>
            <a:r>
              <a:t>Before we begin, which password do you believe offers stronger resistance?</a:t>
            </a:r>
          </a:p>
          <a:p>
            <a:pPr>
              <a:spcAft>
                <a:spcPts val="200"/>
              </a:spcAft>
              <a:defRPr sz="1300" b="0" i="0">
                <a:solidFill>
                  <a:srgbClr val="00F5D4"/>
                </a:solidFill>
                <a:latin typeface="Courier New"/>
              </a:defRPr>
            </a:pPr>
            <a:r>
              <a:t>   Option A:  "P@ssw0rd123"   (Traditional complexity: uppercase, number, symbol, 11 chars)</a:t>
            </a:r>
          </a:p>
          <a:p>
            <a:pPr>
              <a:spcAft>
                <a:spcPts val="800"/>
              </a:spcAft>
              <a:defRPr sz="1300" b="0" i="0">
                <a:solidFill>
                  <a:srgbClr val="00F5D4"/>
                </a:solidFill>
                <a:latin typeface="Courier New"/>
              </a:defRPr>
            </a:pPr>
            <a:r>
              <a:t>   Option B:  "correct-horse-battery-staple"   (Passphrase: 4 common lowercase words, 28 chars)</a:t>
            </a:r>
          </a:p>
          <a:p>
            <a:pPr>
              <a:defRPr sz="1100" b="0" i="1">
                <a:solidFill>
                  <a:srgbClr val="A5B2C6"/>
                </a:solidFill>
                <a:latin typeface="Arial"/>
              </a:defRPr>
            </a:pPr>
            <a:r>
              <a:t>Under a simple search-space model, Option B has a much larger theoretical search space.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PROBLEM &amp; MOTIVATION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The Problem: Human Memory vs. Combinatorial Search Spaces</a:t>
            </a:r>
          </a:p>
        </p:txBody>
      </p:sp>
      <p:sp>
        <p:nvSpPr>
          <p:cNvPr id="5" name="Rounded Rectangle 4"/>
          <p:cNvSpPr/>
          <p:nvPr/>
        </p:nvSpPr>
        <p:spPr>
          <a:xfrm>
            <a:off x="731520" y="1325880"/>
            <a:ext cx="3328416" cy="5029200"/>
          </a:xfrm>
          <a:prstGeom prst="roundRect">
            <a:avLst>
              <a:gd name="adj" fmla="val 3500"/>
            </a:avLst>
          </a:prstGeom>
          <a:solidFill>
            <a:srgbClr val="16213E"/>
          </a:solidFill>
          <a:ln w="19050">
            <a:solidFill>
              <a:srgbClr val="3A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3255264"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2779776" cy="365760"/>
          </a:xfrm>
          <a:prstGeom prst="rect">
            <a:avLst/>
          </a:prstGeom>
          <a:noFill/>
        </p:spPr>
        <p:txBody>
          <a:bodyPr wrap="square" lIns="0" tIns="0" rIns="0" bIns="0">
            <a:spAutoFit/>
          </a:bodyPr>
          <a:lstStyle/>
          <a:p>
            <a:pPr>
              <a:defRPr sz="1300" b="1">
                <a:solidFill>
                  <a:srgbClr val="3A86FF"/>
                </a:solidFill>
                <a:latin typeface="Arial"/>
              </a:defRPr>
            </a:pPr>
            <a:r>
              <a:t>1. Human Cognitive Limits</a:t>
            </a:r>
          </a:p>
        </p:txBody>
      </p:sp>
      <p:sp>
        <p:nvSpPr>
          <p:cNvPr id="8" name="TextBox 7"/>
          <p:cNvSpPr txBox="1"/>
          <p:nvPr/>
        </p:nvSpPr>
        <p:spPr>
          <a:xfrm>
            <a:off x="914400" y="2011680"/>
            <a:ext cx="2962656" cy="4206240"/>
          </a:xfrm>
          <a:prstGeom prst="rect">
            <a:avLst/>
          </a:prstGeom>
          <a:noFill/>
        </p:spPr>
        <p:txBody>
          <a:bodyPr wrap="square">
            <a:spAutoFit/>
          </a:bodyPr>
          <a:lstStyle/>
          <a:p>
            <a:pPr>
              <a:spcAft>
                <a:spcPts val="800"/>
              </a:spcAft>
              <a:defRPr sz="1100" b="0" i="0">
                <a:solidFill>
                  <a:srgbClr val="F5F7FA"/>
                </a:solidFill>
                <a:latin typeface="Arial"/>
              </a:defRPr>
            </a:pPr>
            <a:r>
              <a:t>• Account Overload: Users manage 50 or more online accounts across various services.</a:t>
            </a:r>
          </a:p>
          <a:p>
            <a:pPr>
              <a:spcAft>
                <a:spcPts val="800"/>
              </a:spcAft>
              <a:defRPr sz="1100" b="0" i="0">
                <a:solidFill>
                  <a:srgbClr val="F5F7FA"/>
                </a:solidFill>
                <a:latin typeface="Arial"/>
              </a:defRPr>
            </a:pPr>
            <a:r>
              <a:t>• Memory Limits: Truly random strings are very difficult for human memory to retain.</a:t>
            </a:r>
          </a:p>
          <a:p>
            <a:pPr>
              <a:spcAft>
                <a:spcPts val="800"/>
              </a:spcAft>
              <a:defRPr sz="1100" b="0" i="0">
                <a:solidFill>
                  <a:srgbClr val="F5F7FA"/>
                </a:solidFill>
                <a:latin typeface="Arial"/>
              </a:defRPr>
            </a:pPr>
            <a:r>
              <a:t>• Predictable Shortcuts: Users predictably rely on common words, birthdays, and simple substitutions (e.g., 'a' -&gt; '@').</a:t>
            </a:r>
          </a:p>
          <a:p>
            <a:pPr>
              <a:defRPr sz="1100" b="0" i="0">
                <a:solidFill>
                  <a:srgbClr val="F5F7FA"/>
                </a:solidFill>
                <a:latin typeface="Arial"/>
              </a:defRPr>
            </a:pPr>
            <a:r>
              <a:t>• Password Reuse: The same password is frequently reused across multiple websites.</a:t>
            </a:r>
          </a:p>
        </p:txBody>
      </p:sp>
      <p:sp>
        <p:nvSpPr>
          <p:cNvPr id="9" name="Rounded Rectangle 8"/>
          <p:cNvSpPr/>
          <p:nvPr/>
        </p:nvSpPr>
        <p:spPr>
          <a:xfrm>
            <a:off x="4425696" y="1325880"/>
            <a:ext cx="3328416" cy="5029200"/>
          </a:xfrm>
          <a:prstGeom prst="roundRect">
            <a:avLst>
              <a:gd name="adj" fmla="val 3500"/>
            </a:avLst>
          </a:prstGeom>
          <a:solidFill>
            <a:srgbClr val="16213E"/>
          </a:solidFill>
          <a:ln w="19050">
            <a:solidFill>
              <a:srgbClr val="FFB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62272" y="1362456"/>
            <a:ext cx="3255264"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0016" y="1435608"/>
            <a:ext cx="2779776" cy="365760"/>
          </a:xfrm>
          <a:prstGeom prst="rect">
            <a:avLst/>
          </a:prstGeom>
          <a:noFill/>
        </p:spPr>
        <p:txBody>
          <a:bodyPr wrap="square" lIns="0" tIns="0" rIns="0" bIns="0">
            <a:spAutoFit/>
          </a:bodyPr>
          <a:lstStyle/>
          <a:p>
            <a:pPr>
              <a:defRPr sz="1300" b="1">
                <a:solidFill>
                  <a:srgbClr val="FFBE0B"/>
                </a:solidFill>
                <a:latin typeface="Arial"/>
              </a:defRPr>
            </a:pPr>
            <a:r>
              <a:t>2. Modern Threat Landscape</a:t>
            </a:r>
          </a:p>
        </p:txBody>
      </p:sp>
      <p:sp>
        <p:nvSpPr>
          <p:cNvPr id="12" name="TextBox 11"/>
          <p:cNvSpPr txBox="1"/>
          <p:nvPr/>
        </p:nvSpPr>
        <p:spPr>
          <a:xfrm>
            <a:off x="4608576" y="2011680"/>
            <a:ext cx="2962656" cy="4206240"/>
          </a:xfrm>
          <a:prstGeom prst="rect">
            <a:avLst/>
          </a:prstGeom>
          <a:noFill/>
        </p:spPr>
        <p:txBody>
          <a:bodyPr wrap="square">
            <a:spAutoFit/>
          </a:bodyPr>
          <a:lstStyle/>
          <a:p>
            <a:pPr>
              <a:spcAft>
                <a:spcPts val="800"/>
              </a:spcAft>
              <a:defRPr sz="1100" b="0" i="0">
                <a:solidFill>
                  <a:srgbClr val="F5F7FA"/>
                </a:solidFill>
                <a:latin typeface="Arial"/>
              </a:defRPr>
            </a:pPr>
            <a:r>
              <a:t>• Leaked Wordlists: Attackers exploit large collections of breached passwords (such as RockYou) and common mutation rules.</a:t>
            </a:r>
          </a:p>
          <a:p>
            <a:pPr>
              <a:spcAft>
                <a:spcPts val="800"/>
              </a:spcAft>
              <a:defRPr sz="1100" b="0" i="0">
                <a:solidFill>
                  <a:srgbClr val="F5F7FA"/>
                </a:solidFill>
                <a:latin typeface="Arial"/>
              </a:defRPr>
            </a:pPr>
            <a:r>
              <a:t>• Offline Hash Recovery: Unsalted or fast hashes make large-scale offline guessing cheaper if database dumps leak.</a:t>
            </a:r>
          </a:p>
          <a:p>
            <a:pPr>
              <a:spcAft>
                <a:spcPts val="800"/>
              </a:spcAft>
              <a:defRPr sz="1100" b="0" i="0">
                <a:solidFill>
                  <a:srgbClr val="F5F7FA"/>
                </a:solidFill>
                <a:latin typeface="Arial"/>
              </a:defRPr>
            </a:pPr>
            <a:r>
              <a:t>• Credential Stuffing: Automated bots test dumped credentials across unrelated login portals.</a:t>
            </a:r>
          </a:p>
          <a:p>
            <a:pPr>
              <a:defRPr sz="1100" b="0" i="0">
                <a:solidFill>
                  <a:srgbClr val="F5F7FA"/>
                </a:solidFill>
                <a:latin typeface="Arial"/>
              </a:defRPr>
            </a:pPr>
            <a:r>
              <a:t>• Phishing: Deceptive websites trick users into typing passwords directly, bypassing complexity.</a:t>
            </a:r>
          </a:p>
        </p:txBody>
      </p:sp>
      <p:sp>
        <p:nvSpPr>
          <p:cNvPr id="13" name="Rounded Rectangle 12"/>
          <p:cNvSpPr/>
          <p:nvPr/>
        </p:nvSpPr>
        <p:spPr>
          <a:xfrm>
            <a:off x="8119872" y="1325880"/>
            <a:ext cx="3328416" cy="5029200"/>
          </a:xfrm>
          <a:prstGeom prst="roundRect">
            <a:avLst>
              <a:gd name="adj" fmla="val 3500"/>
            </a:avLst>
          </a:prstGeom>
          <a:solidFill>
            <a:srgbClr val="16213E"/>
          </a:solidFill>
          <a:ln w="19050">
            <a:solidFill>
              <a:srgbClr val="FF4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56448" y="1362456"/>
            <a:ext cx="3255264"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94192" y="1435608"/>
            <a:ext cx="2779776" cy="365760"/>
          </a:xfrm>
          <a:prstGeom prst="rect">
            <a:avLst/>
          </a:prstGeom>
          <a:noFill/>
        </p:spPr>
        <p:txBody>
          <a:bodyPr wrap="square" lIns="0" tIns="0" rIns="0" bIns="0">
            <a:spAutoFit/>
          </a:bodyPr>
          <a:lstStyle/>
          <a:p>
            <a:pPr>
              <a:defRPr sz="1300" b="1">
                <a:solidFill>
                  <a:srgbClr val="FF4B6E"/>
                </a:solidFill>
                <a:latin typeface="Arial"/>
              </a:defRPr>
            </a:pPr>
            <a:r>
              <a:t>3. The Complexity Fallacy</a:t>
            </a:r>
          </a:p>
        </p:txBody>
      </p:sp>
      <p:sp>
        <p:nvSpPr>
          <p:cNvPr id="16" name="TextBox 15"/>
          <p:cNvSpPr txBox="1"/>
          <p:nvPr/>
        </p:nvSpPr>
        <p:spPr>
          <a:xfrm>
            <a:off x="8302752" y="2011680"/>
            <a:ext cx="2962656" cy="4206240"/>
          </a:xfrm>
          <a:prstGeom prst="rect">
            <a:avLst/>
          </a:prstGeom>
          <a:noFill/>
        </p:spPr>
        <p:txBody>
          <a:bodyPr wrap="square">
            <a:spAutoFit/>
          </a:bodyPr>
          <a:lstStyle/>
          <a:p>
            <a:pPr>
              <a:spcAft>
                <a:spcPts val="800"/>
              </a:spcAft>
              <a:defRPr sz="1100" b="0" i="0">
                <a:solidFill>
                  <a:srgbClr val="F5F7FA"/>
                </a:solidFill>
                <a:latin typeface="Arial"/>
              </a:defRPr>
            </a:pPr>
            <a:r>
              <a:t>• Predictable Patterns: Demanding one uppercase and one digit produces predictable patterns like 'Summer2024!'.</a:t>
            </a:r>
          </a:p>
          <a:p>
            <a:pPr>
              <a:spcAft>
                <a:spcPts val="800"/>
              </a:spcAft>
              <a:defRPr sz="1100" b="0" i="0">
                <a:solidFill>
                  <a:srgbClr val="F5F7FA"/>
                </a:solidFill>
                <a:latin typeface="Arial"/>
              </a:defRPr>
            </a:pPr>
            <a:r>
              <a:t>• Targeted Early: Modern password-guessing tools test these common structures very early.</a:t>
            </a:r>
          </a:p>
          <a:p>
            <a:pPr>
              <a:spcAft>
                <a:spcPts val="800"/>
              </a:spcAft>
              <a:defRPr sz="1100" b="0" i="0">
                <a:solidFill>
                  <a:srgbClr val="F5F7FA"/>
                </a:solidFill>
                <a:latin typeface="Arial"/>
              </a:defRPr>
            </a:pPr>
            <a:r>
              <a:t>• NIST SP 800-63B Shift: Modern guidelines discourage arbitrary composition rules and frequent expiration.</a:t>
            </a:r>
          </a:p>
          <a:p>
            <a:pPr>
              <a:defRPr sz="1100" b="0" i="0">
                <a:solidFill>
                  <a:srgbClr val="F5F7FA"/>
                </a:solidFill>
                <a:latin typeface="Arial"/>
              </a:defRPr>
            </a:pPr>
            <a:r>
              <a:t>• PasswordGuard Purpose: An interactive educational tool demonstrating password heuristics, theoretical entropy, and salting.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AUTHENTICATION FOUNDATIONS</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Mathematical Foundations: Search Spaces &amp; the Prover-Verifier Model</a:t>
            </a:r>
          </a:p>
        </p:txBody>
      </p:sp>
      <p:sp>
        <p:nvSpPr>
          <p:cNvPr id="5" name="Rounded Rectangle 4"/>
          <p:cNvSpPr/>
          <p:nvPr/>
        </p:nvSpPr>
        <p:spPr>
          <a:xfrm>
            <a:off x="731520" y="1325880"/>
            <a:ext cx="5120640" cy="5029200"/>
          </a:xfrm>
          <a:prstGeom prst="roundRect">
            <a:avLst>
              <a:gd name="adj" fmla="val 3500"/>
            </a:avLst>
          </a:prstGeom>
          <a:solidFill>
            <a:srgbClr val="16213E"/>
          </a:solidFill>
          <a:ln w="19050">
            <a:solidFill>
              <a:srgbClr val="00F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504748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4572000" cy="365760"/>
          </a:xfrm>
          <a:prstGeom prst="rect">
            <a:avLst/>
          </a:prstGeom>
          <a:noFill/>
        </p:spPr>
        <p:txBody>
          <a:bodyPr wrap="square" lIns="0" tIns="0" rIns="0" bIns="0">
            <a:spAutoFit/>
          </a:bodyPr>
          <a:lstStyle/>
          <a:p>
            <a:pPr>
              <a:defRPr sz="1300" b="1">
                <a:solidFill>
                  <a:srgbClr val="00F5D4"/>
                </a:solidFill>
                <a:latin typeface="Arial"/>
              </a:defRPr>
            </a:pPr>
            <a:r>
              <a:t>1. Prover-Verifier &amp; Formula</a:t>
            </a:r>
          </a:p>
        </p:txBody>
      </p:sp>
      <p:sp>
        <p:nvSpPr>
          <p:cNvPr id="8" name="TextBox 7"/>
          <p:cNvSpPr txBox="1"/>
          <p:nvPr/>
        </p:nvSpPr>
        <p:spPr>
          <a:xfrm>
            <a:off x="960120" y="2011680"/>
            <a:ext cx="4663440" cy="4114800"/>
          </a:xfrm>
          <a:prstGeom prst="rect">
            <a:avLst/>
          </a:prstGeom>
          <a:noFill/>
        </p:spPr>
        <p:txBody>
          <a:bodyPr wrap="square">
            <a:spAutoFit/>
          </a:bodyPr>
          <a:lstStyle/>
          <a:p>
            <a:pPr>
              <a:spcAft>
                <a:spcPts val="400"/>
              </a:spcAft>
              <a:defRPr sz="1200" b="1" i="0">
                <a:solidFill>
                  <a:srgbClr val="FFBE0B"/>
                </a:solidFill>
                <a:latin typeface="Arial"/>
              </a:defRPr>
            </a:pPr>
            <a:r>
              <a:t>The Prover-Verifier Principle:</a:t>
            </a:r>
          </a:p>
          <a:p>
            <a:pPr>
              <a:spcAft>
                <a:spcPts val="1200"/>
              </a:spcAft>
              <a:defRPr sz="1100" b="0" i="0">
                <a:solidFill>
                  <a:srgbClr val="F5F7FA"/>
                </a:solidFill>
                <a:latin typeface="Arial"/>
              </a:defRPr>
            </a:pPr>
            <a:r>
              <a:t>In client-server authentication, the user proves knowledge of a secret without the server storing plaintext. The server validates against a stored cryptographic verifier.</a:t>
            </a:r>
          </a:p>
          <a:p>
            <a:pPr>
              <a:spcAft>
                <a:spcPts val="400"/>
              </a:spcAft>
              <a:defRPr sz="1200" b="1" i="0">
                <a:solidFill>
                  <a:srgbClr val="FFBE0B"/>
                </a:solidFill>
                <a:latin typeface="Arial"/>
              </a:defRPr>
            </a:pPr>
            <a:r>
              <a:t>Combinatorial Search Space Formula:</a:t>
            </a:r>
          </a:p>
          <a:p>
            <a:pPr>
              <a:spcAft>
                <a:spcPts val="200"/>
              </a:spcAft>
              <a:defRPr sz="1200" b="1" i="0">
                <a:solidFill>
                  <a:srgbClr val="00F5D4"/>
                </a:solidFill>
                <a:latin typeface="Courier New"/>
              </a:defRPr>
            </a:pPr>
            <a:r>
              <a:t>   Total Combinations (S) = R^L</a:t>
            </a:r>
          </a:p>
          <a:p>
            <a:pPr>
              <a:spcAft>
                <a:spcPts val="1000"/>
              </a:spcAft>
              <a:defRPr sz="1200" b="1" i="0">
                <a:solidFill>
                  <a:srgbClr val="00F5D4"/>
                </a:solidFill>
                <a:latin typeface="Courier New"/>
              </a:defRPr>
            </a:pPr>
            <a:r>
              <a:t>   Theoretical Entropy (E) = L × log₂(R) bits</a:t>
            </a:r>
          </a:p>
          <a:p>
            <a:pPr>
              <a:spcAft>
                <a:spcPts val="400"/>
              </a:spcAft>
              <a:defRPr sz="1100" b="0" i="0">
                <a:solidFill>
                  <a:srgbClr val="F5F7FA"/>
                </a:solidFill>
                <a:latin typeface="Arial"/>
              </a:defRPr>
            </a:pPr>
            <a:r>
              <a:t>• R = Active character pool size (e.g., 26 lowercase, 62 alphanumeric, 95 printable ASCII).</a:t>
            </a:r>
          </a:p>
          <a:p>
            <a:pPr>
              <a:spcAft>
                <a:spcPts val="1200"/>
              </a:spcAft>
              <a:defRPr sz="1100" b="0" i="0">
                <a:solidFill>
                  <a:srgbClr val="F5F7FA"/>
                </a:solidFill>
                <a:latin typeface="Arial"/>
              </a:defRPr>
            </a:pPr>
            <a:r>
              <a:t>• L = Password length in characters.</a:t>
            </a:r>
          </a:p>
          <a:p>
            <a:pPr>
              <a:defRPr sz="1100" b="1" i="0">
                <a:solidFill>
                  <a:srgbClr val="38D98A"/>
                </a:solidFill>
                <a:latin typeface="Arial"/>
              </a:defRPr>
            </a:pPr>
            <a:r>
              <a:t>Key Mathematical Observation: Length (L) is the exponent! In this theoretical search-space model, increasing length has an exponential effect.</a:t>
            </a:r>
          </a:p>
        </p:txBody>
      </p:sp>
      <p:sp>
        <p:nvSpPr>
          <p:cNvPr id="9" name="Rounded Rectangle 8"/>
          <p:cNvSpPr/>
          <p:nvPr/>
        </p:nvSpPr>
        <p:spPr>
          <a:xfrm>
            <a:off x="6217920" y="1325880"/>
            <a:ext cx="5242255" cy="5029200"/>
          </a:xfrm>
          <a:prstGeom prst="roundRect">
            <a:avLst>
              <a:gd name="adj" fmla="val 3500"/>
            </a:avLst>
          </a:prstGeom>
          <a:solidFill>
            <a:srgbClr val="16213E"/>
          </a:solidFill>
          <a:ln w="19050">
            <a:solidFill>
              <a:srgbClr val="3A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362456"/>
            <a:ext cx="5169103"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35608"/>
            <a:ext cx="4693615" cy="365760"/>
          </a:xfrm>
          <a:prstGeom prst="rect">
            <a:avLst/>
          </a:prstGeom>
          <a:noFill/>
        </p:spPr>
        <p:txBody>
          <a:bodyPr wrap="square" lIns="0" tIns="0" rIns="0" bIns="0">
            <a:spAutoFit/>
          </a:bodyPr>
          <a:lstStyle/>
          <a:p>
            <a:pPr>
              <a:defRPr sz="1300" b="1">
                <a:solidFill>
                  <a:srgbClr val="3A86FF"/>
                </a:solidFill>
                <a:latin typeface="Arial"/>
              </a:defRPr>
            </a:pPr>
            <a:r>
              <a:t>2. Search Space Comparison</a:t>
            </a:r>
          </a:p>
        </p:txBody>
      </p:sp>
      <p:sp>
        <p:nvSpPr>
          <p:cNvPr id="12" name="TextBox 11"/>
          <p:cNvSpPr txBox="1"/>
          <p:nvPr/>
        </p:nvSpPr>
        <p:spPr>
          <a:xfrm>
            <a:off x="6446520" y="2011680"/>
            <a:ext cx="4754880" cy="4114800"/>
          </a:xfrm>
          <a:prstGeom prst="rect">
            <a:avLst/>
          </a:prstGeom>
          <a:noFill/>
        </p:spPr>
        <p:txBody>
          <a:bodyPr wrap="square">
            <a:spAutoFit/>
          </a:bodyPr>
          <a:lstStyle/>
          <a:p>
            <a:pPr>
              <a:spcAft>
                <a:spcPts val="200"/>
              </a:spcAft>
              <a:defRPr sz="1100" b="1" i="0">
                <a:solidFill>
                  <a:srgbClr val="FFBE0B"/>
                </a:solidFill>
                <a:latin typeface="Arial"/>
              </a:defRPr>
            </a:pPr>
            <a:r>
              <a:t>Example 1: Short Simple (8 chars, lowercase only)</a:t>
            </a:r>
          </a:p>
          <a:p>
            <a:pPr>
              <a:spcAft>
                <a:spcPts val="1000"/>
              </a:spcAft>
              <a:defRPr sz="1000" b="0" i="0">
                <a:solidFill>
                  <a:srgbClr val="F5F7FA"/>
                </a:solidFill>
                <a:latin typeface="Courier New"/>
              </a:defRPr>
            </a:pPr>
            <a:r>
              <a:t>R = 26, L = 8 | Total: 26⁸ ≈ 2.09 × 10¹¹ combinations</a:t>
            </a:r>
            <a:br/>
            <a:r>
              <a:t>Theoretical Entropy ≈ 37.6 bits | At 10¹¹ guesses/s (assumed): ≈ 1.05 seconds</a:t>
            </a:r>
          </a:p>
          <a:p>
            <a:pPr>
              <a:spcAft>
                <a:spcPts val="200"/>
              </a:spcAft>
              <a:defRPr sz="1100" b="1" i="0">
                <a:solidFill>
                  <a:srgbClr val="FFBE0B"/>
                </a:solidFill>
                <a:latin typeface="Arial"/>
              </a:defRPr>
            </a:pPr>
            <a:r>
              <a:t>Example 2: Complex Short (8 chars, all ASCII sets)</a:t>
            </a:r>
          </a:p>
          <a:p>
            <a:pPr>
              <a:spcAft>
                <a:spcPts val="1000"/>
              </a:spcAft>
              <a:defRPr sz="1000" b="0" i="0">
                <a:solidFill>
                  <a:srgbClr val="F5F7FA"/>
                </a:solidFill>
                <a:latin typeface="Courier New"/>
              </a:defRPr>
            </a:pPr>
            <a:r>
              <a:t>R = 95, L = 8 | Total: 95⁸ ≈ 6.63 × 10¹⁵ combinations</a:t>
            </a:r>
            <a:br/>
            <a:r>
              <a:t>Theoretical Entropy ≈ 52.6 bits | At 10¹¹ guesses/s (assumed): ≈ 9.2 hours</a:t>
            </a:r>
          </a:p>
          <a:p>
            <a:pPr>
              <a:spcAft>
                <a:spcPts val="200"/>
              </a:spcAft>
              <a:defRPr sz="1100" b="1" i="0">
                <a:solidFill>
                  <a:srgbClr val="38D98A"/>
                </a:solidFill>
                <a:latin typeface="Arial"/>
              </a:defRPr>
            </a:pPr>
            <a:r>
              <a:t>Example 3: Long Passphrase (28 chars, lowercase + hyphens)</a:t>
            </a:r>
          </a:p>
          <a:p>
            <a:pPr>
              <a:spcAft>
                <a:spcPts val="600"/>
              </a:spcAft>
              <a:defRPr sz="1000" b="0" i="0">
                <a:solidFill>
                  <a:srgbClr val="F5F7FA"/>
                </a:solidFill>
                <a:latin typeface="Courier New"/>
              </a:defRPr>
            </a:pPr>
            <a:r>
              <a:t>R = 27, L = 28 | Total: 27²⁸ ≈ 1.20 × 10⁴⁰ combinations</a:t>
            </a:r>
            <a:br/>
            <a:r>
              <a:t>Theoretical Entropy ≈ 133.2 bits | At 10¹¹ guesses/s (assumed): ≈ 1.9 × 10²¹ years</a:t>
            </a:r>
          </a:p>
          <a:p>
            <a:pPr>
              <a:defRPr sz="900" b="0" i="1">
                <a:solidFill>
                  <a:srgbClr val="A5B2C6"/>
                </a:solidFill>
                <a:latin typeface="Arial"/>
              </a:defRPr>
            </a:pPr>
            <a:r>
              <a:t>*Note: Guessing times shown are assumed illustrative rates, not a hardware benchmark.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ATTACK VECTORS &amp; MITIGATIONS</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Common Password Threats &amp; Defense in Depth</a:t>
            </a:r>
          </a:p>
        </p:txBody>
      </p:sp>
      <p:sp>
        <p:nvSpPr>
          <p:cNvPr id="5" name="Rounded Rectangle 4"/>
          <p:cNvSpPr/>
          <p:nvPr/>
        </p:nvSpPr>
        <p:spPr>
          <a:xfrm>
            <a:off x="731520" y="1325880"/>
            <a:ext cx="5180990" cy="5029200"/>
          </a:xfrm>
          <a:prstGeom prst="roundRect">
            <a:avLst>
              <a:gd name="adj" fmla="val 3500"/>
            </a:avLst>
          </a:prstGeom>
          <a:solidFill>
            <a:srgbClr val="16213E"/>
          </a:solidFill>
          <a:ln w="19050">
            <a:solidFill>
              <a:srgbClr val="FF4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510783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4632350" cy="365760"/>
          </a:xfrm>
          <a:prstGeom prst="rect">
            <a:avLst/>
          </a:prstGeom>
          <a:noFill/>
        </p:spPr>
        <p:txBody>
          <a:bodyPr wrap="square" lIns="0" tIns="0" rIns="0" bIns="0">
            <a:spAutoFit/>
          </a:bodyPr>
          <a:lstStyle/>
          <a:p>
            <a:pPr>
              <a:defRPr sz="1300" b="1">
                <a:solidFill>
                  <a:srgbClr val="FF4B6E"/>
                </a:solidFill>
                <a:latin typeface="Arial"/>
              </a:defRPr>
            </a:pPr>
            <a:r>
              <a:t>Threat Vectors</a:t>
            </a:r>
          </a:p>
        </p:txBody>
      </p:sp>
      <p:sp>
        <p:nvSpPr>
          <p:cNvPr id="8" name="TextBox 7"/>
          <p:cNvSpPr txBox="1"/>
          <p:nvPr/>
        </p:nvSpPr>
        <p:spPr>
          <a:xfrm>
            <a:off x="960120" y="2011680"/>
            <a:ext cx="4723790" cy="4114800"/>
          </a:xfrm>
          <a:prstGeom prst="rect">
            <a:avLst/>
          </a:prstGeom>
          <a:noFill/>
        </p:spPr>
        <p:txBody>
          <a:bodyPr wrap="square">
            <a:spAutoFit/>
          </a:bodyPr>
          <a:lstStyle/>
          <a:p>
            <a:pPr>
              <a:spcAft>
                <a:spcPts val="200"/>
              </a:spcAft>
              <a:defRPr sz="1100" b="1" i="0">
                <a:solidFill>
                  <a:srgbClr val="FFBE0B"/>
                </a:solidFill>
                <a:latin typeface="Arial"/>
              </a:defRPr>
            </a:pPr>
            <a:r>
              <a:t>⚠️ Dictionary &amp; Rule-Based Attacks</a:t>
            </a:r>
          </a:p>
          <a:p>
            <a:pPr>
              <a:spcAft>
                <a:spcPts val="800"/>
              </a:spcAft>
              <a:defRPr sz="1000" b="0" i="0">
                <a:solidFill>
                  <a:srgbClr val="F5F7FA"/>
                </a:solidFill>
                <a:latin typeface="Arial"/>
              </a:defRPr>
            </a:pPr>
            <a:r>
              <a:t>Attackers prioritize common human wordlists and apply automated mutation rules (such as leetspeak substitutions).</a:t>
            </a:r>
          </a:p>
          <a:p>
            <a:pPr>
              <a:spcAft>
                <a:spcPts val="200"/>
              </a:spcAft>
              <a:defRPr sz="1100" b="1" i="0">
                <a:solidFill>
                  <a:srgbClr val="FFBE0B"/>
                </a:solidFill>
                <a:latin typeface="Arial"/>
              </a:defRPr>
            </a:pPr>
            <a:r>
              <a:t>⚠️ Credential Stuffing Botnets</a:t>
            </a:r>
          </a:p>
          <a:p>
            <a:pPr>
              <a:spcAft>
                <a:spcPts val="800"/>
              </a:spcAft>
              <a:defRPr sz="1000" b="0" i="0">
                <a:solidFill>
                  <a:srgbClr val="F5F7FA"/>
                </a:solidFill>
                <a:latin typeface="Arial"/>
              </a:defRPr>
            </a:pPr>
            <a:r>
              <a:t>Automated tools replay stolen username and password pairs across many online services, exploiting password reuse.</a:t>
            </a:r>
          </a:p>
          <a:p>
            <a:pPr>
              <a:spcAft>
                <a:spcPts val="200"/>
              </a:spcAft>
              <a:defRPr sz="1100" b="1" i="0">
                <a:solidFill>
                  <a:srgbClr val="FFBE0B"/>
                </a:solidFill>
                <a:latin typeface="Arial"/>
              </a:defRPr>
            </a:pPr>
            <a:r>
              <a:t>⚠️ Offline Fast Hash Cracking</a:t>
            </a:r>
          </a:p>
          <a:p>
            <a:pPr>
              <a:spcAft>
                <a:spcPts val="800"/>
              </a:spcAft>
              <a:defRPr sz="1000" b="0" i="0">
                <a:solidFill>
                  <a:srgbClr val="F5F7FA"/>
                </a:solidFill>
                <a:latin typeface="Arial"/>
              </a:defRPr>
            </a:pPr>
            <a:r>
              <a:t>When unsalted or fast hashes leak from a database, attackers test guesses offline without triggering server lockouts.</a:t>
            </a:r>
          </a:p>
          <a:p>
            <a:pPr>
              <a:spcAft>
                <a:spcPts val="200"/>
              </a:spcAft>
              <a:defRPr sz="1100" b="1" i="0">
                <a:solidFill>
                  <a:srgbClr val="FFBE0B"/>
                </a:solidFill>
                <a:latin typeface="Arial"/>
              </a:defRPr>
            </a:pPr>
            <a:r>
              <a:t>⚠️ Phishing &amp; Social Engineering</a:t>
            </a:r>
          </a:p>
          <a:p>
            <a:pPr>
              <a:defRPr sz="1000" b="0" i="0">
                <a:solidFill>
                  <a:srgbClr val="F5F7FA"/>
                </a:solidFill>
                <a:latin typeface="Arial"/>
              </a:defRPr>
            </a:pPr>
            <a:r>
              <a:t>Deceptive websites trick users into typing passwords directly, bypassing password complexity entirely.</a:t>
            </a:r>
          </a:p>
        </p:txBody>
      </p:sp>
      <p:sp>
        <p:nvSpPr>
          <p:cNvPr id="9" name="Rounded Rectangle 8"/>
          <p:cNvSpPr/>
          <p:nvPr/>
        </p:nvSpPr>
        <p:spPr>
          <a:xfrm>
            <a:off x="6278270" y="1325880"/>
            <a:ext cx="5180990" cy="5029200"/>
          </a:xfrm>
          <a:prstGeom prst="roundRect">
            <a:avLst>
              <a:gd name="adj" fmla="val 3500"/>
            </a:avLst>
          </a:prstGeom>
          <a:solidFill>
            <a:srgbClr val="16213E"/>
          </a:solidFill>
          <a:ln w="19050">
            <a:solidFill>
              <a:srgbClr val="38D9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14846" y="1362456"/>
            <a:ext cx="510783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2590" y="1435608"/>
            <a:ext cx="4632350" cy="365760"/>
          </a:xfrm>
          <a:prstGeom prst="rect">
            <a:avLst/>
          </a:prstGeom>
          <a:noFill/>
        </p:spPr>
        <p:txBody>
          <a:bodyPr wrap="square" lIns="0" tIns="0" rIns="0" bIns="0">
            <a:spAutoFit/>
          </a:bodyPr>
          <a:lstStyle/>
          <a:p>
            <a:pPr>
              <a:defRPr sz="1300" b="1">
                <a:solidFill>
                  <a:srgbClr val="38D98A"/>
                </a:solidFill>
                <a:latin typeface="Arial"/>
              </a:defRPr>
            </a:pPr>
            <a:r>
              <a:t>Defense in Depth Layers</a:t>
            </a:r>
          </a:p>
        </p:txBody>
      </p:sp>
      <p:sp>
        <p:nvSpPr>
          <p:cNvPr id="12" name="TextBox 11"/>
          <p:cNvSpPr txBox="1"/>
          <p:nvPr/>
        </p:nvSpPr>
        <p:spPr>
          <a:xfrm>
            <a:off x="6506870" y="2011680"/>
            <a:ext cx="4723790" cy="4114800"/>
          </a:xfrm>
          <a:prstGeom prst="rect">
            <a:avLst/>
          </a:prstGeom>
          <a:noFill/>
        </p:spPr>
        <p:txBody>
          <a:bodyPr wrap="square">
            <a:spAutoFit/>
          </a:bodyPr>
          <a:lstStyle/>
          <a:p>
            <a:pPr>
              <a:spcAft>
                <a:spcPts val="200"/>
              </a:spcAft>
              <a:defRPr sz="1100" b="1" i="0">
                <a:solidFill>
                  <a:srgbClr val="00F5D4"/>
                </a:solidFill>
                <a:latin typeface="Arial"/>
              </a:defRPr>
            </a:pPr>
            <a:r>
              <a:t>🛡️ Password Managers (Vaults)</a:t>
            </a:r>
          </a:p>
          <a:p>
            <a:pPr>
              <a:spcAft>
                <a:spcPts val="800"/>
              </a:spcAft>
              <a:defRPr sz="1000" b="0" i="0">
                <a:solidFill>
                  <a:srgbClr val="F5F7FA"/>
                </a:solidFill>
                <a:latin typeface="Arial"/>
              </a:defRPr>
            </a:pPr>
            <a:r>
              <a:t>Generate and store unique, high-entropy passwords for every website, neutralizing credential stuffing.</a:t>
            </a:r>
          </a:p>
          <a:p>
            <a:pPr>
              <a:spcAft>
                <a:spcPts val="200"/>
              </a:spcAft>
              <a:defRPr sz="1100" b="1" i="0">
                <a:solidFill>
                  <a:srgbClr val="00F5D4"/>
                </a:solidFill>
                <a:latin typeface="Arial"/>
              </a:defRPr>
            </a:pPr>
            <a:r>
              <a:t>🛡️ Multi-Factor Authentication (MFA)</a:t>
            </a:r>
          </a:p>
          <a:p>
            <a:pPr>
              <a:spcAft>
                <a:spcPts val="800"/>
              </a:spcAft>
              <a:defRPr sz="1000" b="0" i="0">
                <a:solidFill>
                  <a:srgbClr val="F5F7FA"/>
                </a:solidFill>
                <a:latin typeface="Arial"/>
              </a:defRPr>
            </a:pPr>
            <a:r>
              <a:t>Enforce an independent secondary factor (authenticator app or security key) so a stolen password alone is not enough.</a:t>
            </a:r>
          </a:p>
          <a:p>
            <a:pPr>
              <a:spcAft>
                <a:spcPts val="200"/>
              </a:spcAft>
              <a:defRPr sz="1100" b="1" i="0">
                <a:solidFill>
                  <a:srgbClr val="00F5D4"/>
                </a:solidFill>
                <a:latin typeface="Arial"/>
              </a:defRPr>
            </a:pPr>
            <a:r>
              <a:t>🛡️ Slow Memory-Hard Hashing</a:t>
            </a:r>
          </a:p>
          <a:p>
            <a:pPr>
              <a:spcAft>
                <a:spcPts val="800"/>
              </a:spcAft>
              <a:defRPr sz="1000" b="0" i="0">
                <a:solidFill>
                  <a:srgbClr val="F5F7FA"/>
                </a:solidFill>
                <a:latin typeface="Arial"/>
              </a:defRPr>
            </a:pPr>
            <a:r>
              <a:t>Use dedicated functions (Argon2id, bcrypt, scrypt) with unique salts to increase the computational cost per guess.</a:t>
            </a:r>
          </a:p>
          <a:p>
            <a:pPr>
              <a:spcAft>
                <a:spcPts val="200"/>
              </a:spcAft>
              <a:defRPr sz="1100" b="1" i="0">
                <a:solidFill>
                  <a:srgbClr val="00F5D4"/>
                </a:solidFill>
                <a:latin typeface="Arial"/>
              </a:defRPr>
            </a:pPr>
            <a:r>
              <a:t>🛡️ Rate Limiting &amp; Account Lockouts</a:t>
            </a:r>
          </a:p>
          <a:p>
            <a:pPr>
              <a:defRPr sz="1000" b="0" i="0">
                <a:solidFill>
                  <a:srgbClr val="F5F7FA"/>
                </a:solidFill>
                <a:latin typeface="Arial"/>
              </a:defRPr>
            </a:pPr>
            <a:r>
              <a:t>Throttling login endpoints at the network perimeter limits automated online brute-force attempts.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SYSTEM DESIGN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PasswordGuard: Application Architecture &amp; Privacy Design</a:t>
            </a:r>
          </a:p>
        </p:txBody>
      </p:sp>
      <p:sp>
        <p:nvSpPr>
          <p:cNvPr id="5" name="Rounded Rectangle 4"/>
          <p:cNvSpPr/>
          <p:nvPr/>
        </p:nvSpPr>
        <p:spPr>
          <a:xfrm>
            <a:off x="731520" y="1325880"/>
            <a:ext cx="5120640" cy="5029200"/>
          </a:xfrm>
          <a:prstGeom prst="roundRect">
            <a:avLst>
              <a:gd name="adj" fmla="val 3500"/>
            </a:avLst>
          </a:prstGeom>
          <a:solidFill>
            <a:srgbClr val="16213E"/>
          </a:solidFill>
          <a:ln w="19050">
            <a:solidFill>
              <a:srgbClr val="3A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504748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4572000" cy="365760"/>
          </a:xfrm>
          <a:prstGeom prst="rect">
            <a:avLst/>
          </a:prstGeom>
          <a:noFill/>
        </p:spPr>
        <p:txBody>
          <a:bodyPr wrap="square" lIns="0" tIns="0" rIns="0" bIns="0">
            <a:spAutoFit/>
          </a:bodyPr>
          <a:lstStyle/>
          <a:p>
            <a:pPr>
              <a:defRPr sz="1300" b="1">
                <a:solidFill>
                  <a:srgbClr val="3A86FF"/>
                </a:solidFill>
                <a:latin typeface="Arial"/>
              </a:defRPr>
            </a:pPr>
            <a:r>
              <a:t>Client-Side Processing Model</a:t>
            </a:r>
          </a:p>
        </p:txBody>
      </p:sp>
      <p:sp>
        <p:nvSpPr>
          <p:cNvPr id="8" name="TextBox 7"/>
          <p:cNvSpPr txBox="1"/>
          <p:nvPr/>
        </p:nvSpPr>
        <p:spPr>
          <a:xfrm>
            <a:off x="960120" y="2011680"/>
            <a:ext cx="4663440" cy="4114800"/>
          </a:xfrm>
          <a:prstGeom prst="rect">
            <a:avLst/>
          </a:prstGeom>
          <a:noFill/>
        </p:spPr>
        <p:txBody>
          <a:bodyPr wrap="square">
            <a:spAutoFit/>
          </a:bodyPr>
          <a:lstStyle/>
          <a:p>
            <a:pPr>
              <a:spcAft>
                <a:spcPts val="100"/>
              </a:spcAft>
              <a:defRPr sz="1100" b="1" i="0">
                <a:solidFill>
                  <a:srgbClr val="FFBE0B"/>
                </a:solidFill>
                <a:latin typeface="Arial"/>
              </a:defRPr>
            </a:pPr>
            <a:r>
              <a:t>• Modern Frontend Stack:</a:t>
            </a:r>
          </a:p>
          <a:p>
            <a:pPr>
              <a:spcAft>
                <a:spcPts val="800"/>
              </a:spcAft>
              <a:defRPr sz="1000" b="0" i="0">
                <a:solidFill>
                  <a:srgbClr val="F5F7FA"/>
                </a:solidFill>
                <a:latin typeface="Arial"/>
              </a:defRPr>
            </a:pPr>
            <a:r>
              <a:t>Built with React 19, TypeScript, and Vite for fast, type-safe interactive evaluation.</a:t>
            </a:r>
          </a:p>
          <a:p>
            <a:pPr>
              <a:spcAft>
                <a:spcPts val="100"/>
              </a:spcAft>
              <a:defRPr sz="1100" b="1" i="0">
                <a:solidFill>
                  <a:srgbClr val="FFBE0B"/>
                </a:solidFill>
                <a:latin typeface="Arial"/>
              </a:defRPr>
            </a:pPr>
            <a:r>
              <a:t>• Browser-Side Processing:</a:t>
            </a:r>
          </a:p>
          <a:p>
            <a:pPr>
              <a:spcAft>
                <a:spcPts val="800"/>
              </a:spcAft>
              <a:defRPr sz="1000" b="0" i="0">
                <a:solidFill>
                  <a:srgbClr val="F5F7FA"/>
                </a:solidFill>
                <a:latin typeface="Arial"/>
              </a:defRPr>
            </a:pPr>
            <a:r>
              <a:t>Designed to process entered passwords locally in the browser runtime.</a:t>
            </a:r>
          </a:p>
          <a:p>
            <a:pPr>
              <a:spcAft>
                <a:spcPts val="100"/>
              </a:spcAft>
              <a:defRPr sz="1100" b="1" i="0">
                <a:solidFill>
                  <a:srgbClr val="FFBE0B"/>
                </a:solidFill>
                <a:latin typeface="Arial"/>
              </a:defRPr>
            </a:pPr>
            <a:r>
              <a:t>• No Password-Submission Backend:</a:t>
            </a:r>
          </a:p>
          <a:p>
            <a:pPr>
              <a:spcAft>
                <a:spcPts val="800"/>
              </a:spcAft>
              <a:defRPr sz="1000" b="0" i="0">
                <a:solidFill>
                  <a:srgbClr val="F5F7FA"/>
                </a:solidFill>
                <a:latin typeface="Arial"/>
              </a:defRPr>
            </a:pPr>
            <a:r>
              <a:t>PasswordGuard does not include an application backend for credential submission, and does not store passwords in a database or send tracking data.</a:t>
            </a:r>
          </a:p>
          <a:p>
            <a:pPr>
              <a:spcAft>
                <a:spcPts val="100"/>
              </a:spcAft>
              <a:defRPr sz="1100" b="1" i="0">
                <a:solidFill>
                  <a:srgbClr val="FFBE0B"/>
                </a:solidFill>
                <a:latin typeface="Arial"/>
              </a:defRPr>
            </a:pPr>
            <a:r>
              <a:t>• Native Web Crypto API:</a:t>
            </a:r>
          </a:p>
          <a:p>
            <a:pPr>
              <a:spcAft>
                <a:spcPts val="800"/>
              </a:spcAft>
              <a:defRPr sz="1000" b="0" i="0">
                <a:solidFill>
                  <a:srgbClr val="F5F7FA"/>
                </a:solidFill>
                <a:latin typeface="Arial"/>
              </a:defRPr>
            </a:pPr>
            <a:r>
              <a:t>Uses window.crypto.subtle for cryptographic hashing and crypto.getRandomValues for random salt generation.</a:t>
            </a:r>
          </a:p>
          <a:p>
            <a:pPr>
              <a:spcAft>
                <a:spcPts val="100"/>
              </a:spcAft>
              <a:defRPr sz="1100" b="1" i="0">
                <a:solidFill>
                  <a:srgbClr val="FFBE0B"/>
                </a:solidFill>
                <a:latin typeface="Arial"/>
              </a:defRPr>
            </a:pPr>
            <a:r>
              <a:t>• Modular Component Structure:</a:t>
            </a:r>
          </a:p>
          <a:p>
            <a:pPr>
              <a:defRPr sz="1000" b="0" i="0">
                <a:solidFill>
                  <a:srgbClr val="F5F7FA"/>
                </a:solidFill>
                <a:latin typeface="Arial"/>
              </a:defRPr>
            </a:pPr>
            <a:r>
              <a:t>Separated components for password analysis, strength meter, security checklist, cracking projections, and hashing demo.</a:t>
            </a:r>
          </a:p>
        </p:txBody>
      </p:sp>
      <p:sp>
        <p:nvSpPr>
          <p:cNvPr id="9" name="Rounded Rectangle 8"/>
          <p:cNvSpPr/>
          <p:nvPr/>
        </p:nvSpPr>
        <p:spPr>
          <a:xfrm>
            <a:off x="6217920" y="1325880"/>
            <a:ext cx="5242255" cy="5029200"/>
          </a:xfrm>
          <a:prstGeom prst="roundRect">
            <a:avLst>
              <a:gd name="adj" fmla="val 3500"/>
            </a:avLst>
          </a:prstGeom>
          <a:solidFill>
            <a:srgbClr val="16213E"/>
          </a:solidFill>
          <a:ln w="19050">
            <a:solidFill>
              <a:srgbClr val="00F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362456"/>
            <a:ext cx="5169103"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35608"/>
            <a:ext cx="4693615" cy="365760"/>
          </a:xfrm>
          <a:prstGeom prst="rect">
            <a:avLst/>
          </a:prstGeom>
          <a:noFill/>
        </p:spPr>
        <p:txBody>
          <a:bodyPr wrap="square" lIns="0" tIns="0" rIns="0" bIns="0">
            <a:spAutoFit/>
          </a:bodyPr>
          <a:lstStyle/>
          <a:p>
            <a:pPr>
              <a:defRPr sz="1300" b="1">
                <a:solidFill>
                  <a:srgbClr val="00F5D4"/>
                </a:solidFill>
                <a:latin typeface="Arial"/>
              </a:defRPr>
            </a:pPr>
            <a:r>
              <a:t>System Architecture Flow</a:t>
            </a:r>
          </a:p>
        </p:txBody>
      </p:sp>
      <p:sp>
        <p:nvSpPr>
          <p:cNvPr id="12" name="Rounded Rectangle 11"/>
          <p:cNvSpPr/>
          <p:nvPr/>
        </p:nvSpPr>
        <p:spPr>
          <a:xfrm>
            <a:off x="6446520" y="2011680"/>
            <a:ext cx="4785055" cy="4069080"/>
          </a:xfrm>
          <a:prstGeom prst="roundRect">
            <a:avLst>
              <a:gd name="adj" fmla="val 3000"/>
            </a:avLst>
          </a:prstGeom>
          <a:solidFill>
            <a:srgbClr val="FFFFFF"/>
          </a:solidFill>
          <a:ln w="12700">
            <a:solidFill>
              <a:srgbClr val="C8D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g_architecture.png"/>
          <p:cNvPicPr>
            <a:picLocks noChangeAspect="1"/>
          </p:cNvPicPr>
          <p:nvPr/>
        </p:nvPicPr>
        <p:blipFill>
          <a:blip r:embed="rId2"/>
          <a:stretch>
            <a:fillRect/>
          </a:stretch>
        </p:blipFill>
        <p:spPr>
          <a:xfrm>
            <a:off x="6537960" y="2148840"/>
            <a:ext cx="4602175" cy="245449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SCORING METHODOLOGY</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How PasswordGuard Evaluates Passwords: Heuristic &amp; Entropy</a:t>
            </a:r>
          </a:p>
        </p:txBody>
      </p:sp>
      <p:sp>
        <p:nvSpPr>
          <p:cNvPr id="5" name="Rounded Rectangle 4"/>
          <p:cNvSpPr/>
          <p:nvPr/>
        </p:nvSpPr>
        <p:spPr>
          <a:xfrm>
            <a:off x="731520" y="1325880"/>
            <a:ext cx="5120640" cy="5029200"/>
          </a:xfrm>
          <a:prstGeom prst="roundRect">
            <a:avLst>
              <a:gd name="adj" fmla="val 3500"/>
            </a:avLst>
          </a:prstGeom>
          <a:solidFill>
            <a:srgbClr val="16213E"/>
          </a:solidFill>
          <a:ln w="19050">
            <a:solidFill>
              <a:srgbClr val="00F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504748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4572000" cy="365760"/>
          </a:xfrm>
          <a:prstGeom prst="rect">
            <a:avLst/>
          </a:prstGeom>
          <a:noFill/>
        </p:spPr>
        <p:txBody>
          <a:bodyPr wrap="square" lIns="0" tIns="0" rIns="0" bIns="0">
            <a:spAutoFit/>
          </a:bodyPr>
          <a:lstStyle/>
          <a:p>
            <a:pPr>
              <a:defRPr sz="1300" b="1">
                <a:solidFill>
                  <a:srgbClr val="00F5D4"/>
                </a:solidFill>
                <a:latin typeface="Arial"/>
              </a:defRPr>
            </a:pPr>
            <a:r>
              <a:t>1. Transparent Heuristic (0–100)</a:t>
            </a:r>
          </a:p>
        </p:txBody>
      </p:sp>
      <p:sp>
        <p:nvSpPr>
          <p:cNvPr id="8" name="TextBox 7"/>
          <p:cNvSpPr txBox="1"/>
          <p:nvPr/>
        </p:nvSpPr>
        <p:spPr>
          <a:xfrm>
            <a:off x="960120" y="2011680"/>
            <a:ext cx="4663440" cy="4114800"/>
          </a:xfrm>
          <a:prstGeom prst="rect">
            <a:avLst/>
          </a:prstGeom>
          <a:noFill/>
        </p:spPr>
        <p:txBody>
          <a:bodyPr wrap="square">
            <a:spAutoFit/>
          </a:bodyPr>
          <a:lstStyle/>
          <a:p>
            <a:pPr>
              <a:spcAft>
                <a:spcPts val="600"/>
              </a:spcAft>
              <a:defRPr sz="1200" b="1" i="0">
                <a:solidFill>
                  <a:srgbClr val="FFBE0B"/>
                </a:solidFill>
                <a:latin typeface="Arial"/>
              </a:defRPr>
            </a:pPr>
            <a:r>
              <a:t>Verified Scoring Rules from Code:</a:t>
            </a:r>
          </a:p>
          <a:p>
            <a:pPr>
              <a:spcAft>
                <a:spcPts val="500"/>
              </a:spcAft>
              <a:defRPr sz="1000" b="0" i="0">
                <a:solidFill>
                  <a:srgbClr val="F5F7FA"/>
                </a:solidFill>
                <a:latin typeface="Arial"/>
              </a:defRPr>
            </a:pPr>
            <a:r>
              <a:t>• Length Brackets: Up to 40 pts (4 pts &lt;6, 10 pts for 6–7, 20 pts for 8–11, 32 pts for 12–15, 40 pts for ≥16 chars).</a:t>
            </a:r>
          </a:p>
          <a:p>
            <a:pPr>
              <a:spcAft>
                <a:spcPts val="500"/>
              </a:spcAft>
              <a:defRPr sz="1000" b="0" i="0">
                <a:solidFill>
                  <a:srgbClr val="F5F7FA"/>
                </a:solidFill>
                <a:latin typeface="Arial"/>
              </a:defRPr>
            </a:pPr>
            <a:r>
              <a:t>• Character Variety: Up to 35 pts (lowercase +8, uppercase +8, digits +9, symbols +10).</a:t>
            </a:r>
          </a:p>
          <a:p>
            <a:pPr>
              <a:spcAft>
                <a:spcPts val="500"/>
              </a:spcAft>
              <a:defRPr sz="1000" b="0" i="0">
                <a:solidFill>
                  <a:srgbClr val="F5F7FA"/>
                </a:solidFill>
                <a:latin typeface="Arial"/>
              </a:defRPr>
            </a:pPr>
            <a:r>
              <a:t>• Diversity Bonus: Up to 15 bonus pts (2 pools: +3, 3 pools: +8, 4 pools: +15).</a:t>
            </a:r>
          </a:p>
          <a:p>
            <a:pPr>
              <a:spcAft>
                <a:spcPts val="500"/>
              </a:spcAft>
              <a:defRPr sz="1000" b="0" i="0">
                <a:solidFill>
                  <a:srgbClr val="F5F7FA"/>
                </a:solidFill>
                <a:latin typeface="Arial"/>
              </a:defRPr>
            </a:pPr>
            <a:r>
              <a:t>• Passphrase Bonus: Up to 20 bonus pts (20 pts for length ≥20 with ≥10 unique chars; 15 pts for ≥16 with word delimiters).</a:t>
            </a:r>
          </a:p>
          <a:p>
            <a:pPr>
              <a:spcAft>
                <a:spcPts val="500"/>
              </a:spcAft>
              <a:defRPr sz="1000" b="0" i="0">
                <a:solidFill>
                  <a:srgbClr val="F5F7FA"/>
                </a:solidFill>
                <a:latin typeface="Arial"/>
              </a:defRPr>
            </a:pPr>
            <a:r>
              <a:t>• Subtractive Penalties: Sequential runs (-15), repeated chars (-15), dictionary roots (-25), length under 12 (-8 or -20), single pool (-15).</a:t>
            </a:r>
          </a:p>
          <a:p>
            <a:pPr>
              <a:defRPr sz="1000" b="1" i="0">
                <a:solidFill>
                  <a:srgbClr val="38D98A"/>
                </a:solidFill>
                <a:latin typeface="Arial"/>
              </a:defRPr>
            </a:pPr>
            <a:r>
              <a:t>• Final Classification: Weak (0–39) • Medium (40–69) • Strong (70–100).</a:t>
            </a:r>
          </a:p>
        </p:txBody>
      </p:sp>
      <p:sp>
        <p:nvSpPr>
          <p:cNvPr id="9" name="Rounded Rectangle 8"/>
          <p:cNvSpPr/>
          <p:nvPr/>
        </p:nvSpPr>
        <p:spPr>
          <a:xfrm>
            <a:off x="6217920" y="1325880"/>
            <a:ext cx="5242255" cy="5029200"/>
          </a:xfrm>
          <a:prstGeom prst="roundRect">
            <a:avLst>
              <a:gd name="adj" fmla="val 3500"/>
            </a:avLst>
          </a:prstGeom>
          <a:solidFill>
            <a:srgbClr val="16213E"/>
          </a:solidFill>
          <a:ln w="19050">
            <a:solidFill>
              <a:srgbClr val="FFB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362456"/>
            <a:ext cx="5169103"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35608"/>
            <a:ext cx="4693615" cy="365760"/>
          </a:xfrm>
          <a:prstGeom prst="rect">
            <a:avLst/>
          </a:prstGeom>
          <a:noFill/>
        </p:spPr>
        <p:txBody>
          <a:bodyPr wrap="square" lIns="0" tIns="0" rIns="0" bIns="0">
            <a:spAutoFit/>
          </a:bodyPr>
          <a:lstStyle/>
          <a:p>
            <a:pPr>
              <a:defRPr sz="1300" b="1">
                <a:solidFill>
                  <a:srgbClr val="FFBE0B"/>
                </a:solidFill>
                <a:latin typeface="Arial"/>
              </a:defRPr>
            </a:pPr>
            <a:r>
              <a:t>2. Theoretical Entropy &amp; Guessing Models</a:t>
            </a:r>
          </a:p>
        </p:txBody>
      </p:sp>
      <p:sp>
        <p:nvSpPr>
          <p:cNvPr id="12" name="TextBox 11"/>
          <p:cNvSpPr txBox="1"/>
          <p:nvPr/>
        </p:nvSpPr>
        <p:spPr>
          <a:xfrm>
            <a:off x="6446520" y="2011680"/>
            <a:ext cx="4754880" cy="4114800"/>
          </a:xfrm>
          <a:prstGeom prst="rect">
            <a:avLst/>
          </a:prstGeom>
          <a:noFill/>
        </p:spPr>
        <p:txBody>
          <a:bodyPr wrap="square">
            <a:spAutoFit/>
          </a:bodyPr>
          <a:lstStyle/>
          <a:p>
            <a:pPr>
              <a:spcAft>
                <a:spcPts val="400"/>
              </a:spcAft>
              <a:defRPr sz="1200" b="1" i="0">
                <a:solidFill>
                  <a:srgbClr val="00F5D4"/>
                </a:solidFill>
                <a:latin typeface="Arial"/>
              </a:defRPr>
            </a:pPr>
            <a:r>
              <a:t>Theoretical Character-Space Entropy Estimate:</a:t>
            </a:r>
          </a:p>
          <a:p>
            <a:pPr>
              <a:spcAft>
                <a:spcPts val="200"/>
              </a:spcAft>
              <a:defRPr sz="1200" b="1" i="0">
                <a:solidFill>
                  <a:srgbClr val="F5F7FA"/>
                </a:solidFill>
                <a:latin typeface="Courier New"/>
              </a:defRPr>
            </a:pPr>
            <a:r>
              <a:t>   E = L × log₂(R) bits</a:t>
            </a:r>
          </a:p>
          <a:p>
            <a:pPr>
              <a:spcAft>
                <a:spcPts val="1000"/>
              </a:spcAft>
              <a:defRPr sz="1000" b="0" i="1">
                <a:solidFill>
                  <a:srgbClr val="A5B2C6"/>
                </a:solidFill>
                <a:latin typeface="Arial"/>
              </a:defRPr>
            </a:pPr>
            <a:r>
              <a:t>(Upper-bound estimate under uniform-character assumption)</a:t>
            </a:r>
          </a:p>
          <a:p>
            <a:pPr>
              <a:spcAft>
                <a:spcPts val="600"/>
              </a:spcAft>
              <a:defRPr sz="1200" b="1" i="0">
                <a:solidFill>
                  <a:srgbClr val="FFBE0B"/>
                </a:solidFill>
                <a:latin typeface="Arial"/>
              </a:defRPr>
            </a:pPr>
            <a:r>
              <a:t>Illustrative Assumed Guessing Rates (T = S / (2 × V)):</a:t>
            </a:r>
          </a:p>
          <a:p>
            <a:pPr>
              <a:spcAft>
                <a:spcPts val="600"/>
              </a:spcAft>
              <a:defRPr sz="1000" b="0" i="0">
                <a:solidFill>
                  <a:srgbClr val="F5F7FA"/>
                </a:solidFill>
                <a:latin typeface="Arial"/>
              </a:defRPr>
            </a:pPr>
            <a:r>
              <a:t>• 100 guesses/sec: Illustrative rate modeling a throttled online login endpoint.</a:t>
            </a:r>
          </a:p>
          <a:p>
            <a:pPr>
              <a:spcAft>
                <a:spcPts val="600"/>
              </a:spcAft>
              <a:defRPr sz="1000" b="0" i="0">
                <a:solidFill>
                  <a:srgbClr val="F5F7FA"/>
                </a:solidFill>
                <a:latin typeface="Arial"/>
              </a:defRPr>
            </a:pPr>
            <a:r>
              <a:t>• 10,000,000 guesses/sec (10⁷): Illustrative rate modeling standard CPU offline recovery.</a:t>
            </a:r>
          </a:p>
          <a:p>
            <a:pPr>
              <a:spcAft>
                <a:spcPts val="600"/>
              </a:spcAft>
              <a:defRPr sz="1000" b="0" i="0">
                <a:solidFill>
                  <a:srgbClr val="F5F7FA"/>
                </a:solidFill>
                <a:latin typeface="Arial"/>
              </a:defRPr>
            </a:pPr>
            <a:r>
              <a:t>• 100,000,000,000 guesses/sec (10¹¹): Illustrative rate modeling high-end hardware targeting fast hashes.</a:t>
            </a:r>
          </a:p>
          <a:p>
            <a:pPr>
              <a:defRPr sz="1000" b="0" i="1">
                <a:solidFill>
                  <a:srgbClr val="FF4B6E"/>
                </a:solidFill>
                <a:latin typeface="Arial"/>
              </a:defRPr>
            </a:pPr>
            <a:r>
              <a:t>• Educational Note: These rates are illustrative assumed scenarios, NOT physical hardware benchmarks.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HASHING &amp; SALTING DEMONSTRATION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Password Hashing, Cryptographic Salts, and Production Security</a:t>
            </a:r>
          </a:p>
        </p:txBody>
      </p:sp>
      <p:sp>
        <p:nvSpPr>
          <p:cNvPr id="5" name="Rounded Rectangle 4"/>
          <p:cNvSpPr/>
          <p:nvPr/>
        </p:nvSpPr>
        <p:spPr>
          <a:xfrm>
            <a:off x="731520" y="1325880"/>
            <a:ext cx="3328416" cy="5029200"/>
          </a:xfrm>
          <a:prstGeom prst="roundRect">
            <a:avLst>
              <a:gd name="adj" fmla="val 3500"/>
            </a:avLst>
          </a:prstGeom>
          <a:solidFill>
            <a:srgbClr val="16213E"/>
          </a:solidFill>
          <a:ln w="19050">
            <a:solidFill>
              <a:srgbClr val="3A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3255264"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2779776" cy="365760"/>
          </a:xfrm>
          <a:prstGeom prst="rect">
            <a:avLst/>
          </a:prstGeom>
          <a:noFill/>
        </p:spPr>
        <p:txBody>
          <a:bodyPr wrap="square" lIns="0" tIns="0" rIns="0" bIns="0">
            <a:spAutoFit/>
          </a:bodyPr>
          <a:lstStyle/>
          <a:p>
            <a:pPr>
              <a:defRPr sz="1300" b="1">
                <a:solidFill>
                  <a:srgbClr val="3A86FF"/>
                </a:solidFill>
                <a:latin typeface="Arial"/>
              </a:defRPr>
            </a:pPr>
            <a:r>
              <a:t>1. One-Way Hashing</a:t>
            </a:r>
          </a:p>
        </p:txBody>
      </p:sp>
      <p:sp>
        <p:nvSpPr>
          <p:cNvPr id="8" name="TextBox 7"/>
          <p:cNvSpPr txBox="1"/>
          <p:nvPr/>
        </p:nvSpPr>
        <p:spPr>
          <a:xfrm>
            <a:off x="914400" y="2011680"/>
            <a:ext cx="2962656" cy="4114800"/>
          </a:xfrm>
          <a:prstGeom prst="rect">
            <a:avLst/>
          </a:prstGeom>
          <a:noFill/>
        </p:spPr>
        <p:txBody>
          <a:bodyPr wrap="square">
            <a:spAutoFit/>
          </a:bodyPr>
          <a:lstStyle/>
          <a:p>
            <a:pPr>
              <a:spcAft>
                <a:spcPts val="200"/>
              </a:spcAft>
              <a:defRPr sz="1100" b="1" i="0">
                <a:solidFill>
                  <a:srgbClr val="FFBE0B"/>
                </a:solidFill>
                <a:latin typeface="Arial"/>
              </a:defRPr>
            </a:pPr>
            <a:r>
              <a:t>• Deterministic &amp; Irreversible:</a:t>
            </a:r>
          </a:p>
          <a:p>
            <a:pPr>
              <a:spcAft>
                <a:spcPts val="800"/>
              </a:spcAft>
              <a:defRPr sz="1000" b="0" i="0">
                <a:solidFill>
                  <a:srgbClr val="F5F7FA"/>
                </a:solidFill>
                <a:latin typeface="Arial"/>
              </a:defRPr>
            </a:pPr>
            <a:r>
              <a:t>Input maps to a fixed-size 256-bit hexadecimal digest. Inverting the digest back to plaintext is computationally infeasible.</a:t>
            </a:r>
          </a:p>
          <a:p>
            <a:pPr>
              <a:spcAft>
                <a:spcPts val="200"/>
              </a:spcAft>
              <a:defRPr sz="1100" b="1" i="0">
                <a:solidFill>
                  <a:srgbClr val="FFBE0B"/>
                </a:solidFill>
                <a:latin typeface="Arial"/>
              </a:defRPr>
            </a:pPr>
            <a:r>
              <a:t>• Avalanche Effect:</a:t>
            </a:r>
          </a:p>
          <a:p>
            <a:pPr>
              <a:spcAft>
                <a:spcPts val="800"/>
              </a:spcAft>
              <a:defRPr sz="1000" b="0" i="0">
                <a:solidFill>
                  <a:srgbClr val="F5F7FA"/>
                </a:solidFill>
                <a:latin typeface="Arial"/>
              </a:defRPr>
            </a:pPr>
            <a:r>
              <a:t>A well-designed cryptographic hash exhibits an avalanche effect: a small input change tends to change roughly half of the output bits.</a:t>
            </a:r>
          </a:p>
          <a:p>
            <a:pPr>
              <a:spcAft>
                <a:spcPts val="200"/>
              </a:spcAft>
              <a:defRPr sz="1100" b="1" i="0">
                <a:solidFill>
                  <a:srgbClr val="FFBE0B"/>
                </a:solidFill>
                <a:latin typeface="Arial"/>
              </a:defRPr>
            </a:pPr>
            <a:r>
              <a:t>• Fast Hashes in Security:</a:t>
            </a:r>
          </a:p>
          <a:p>
            <a:pPr>
              <a:defRPr sz="1000" b="0" i="0">
                <a:solidFill>
                  <a:srgbClr val="F5F7FA"/>
                </a:solidFill>
                <a:latin typeface="Arial"/>
              </a:defRPr>
            </a:pPr>
            <a:r>
              <a:t>SHA-256 is designed to be fast for digital signatures and file integrity, but this throughput makes password guessing cheaper if hashes leak.</a:t>
            </a:r>
          </a:p>
        </p:txBody>
      </p:sp>
      <p:sp>
        <p:nvSpPr>
          <p:cNvPr id="9" name="Rounded Rectangle 8"/>
          <p:cNvSpPr/>
          <p:nvPr/>
        </p:nvSpPr>
        <p:spPr>
          <a:xfrm>
            <a:off x="4425696" y="1325880"/>
            <a:ext cx="3328416" cy="5029200"/>
          </a:xfrm>
          <a:prstGeom prst="roundRect">
            <a:avLst>
              <a:gd name="adj" fmla="val 3500"/>
            </a:avLst>
          </a:prstGeom>
          <a:solidFill>
            <a:srgbClr val="16213E"/>
          </a:solidFill>
          <a:ln w="19050">
            <a:solidFill>
              <a:srgbClr val="00F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62272" y="1362456"/>
            <a:ext cx="3255264"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0016" y="1435608"/>
            <a:ext cx="2779776" cy="365760"/>
          </a:xfrm>
          <a:prstGeom prst="rect">
            <a:avLst/>
          </a:prstGeom>
          <a:noFill/>
        </p:spPr>
        <p:txBody>
          <a:bodyPr wrap="square" lIns="0" tIns="0" rIns="0" bIns="0">
            <a:spAutoFit/>
          </a:bodyPr>
          <a:lstStyle/>
          <a:p>
            <a:pPr>
              <a:defRPr sz="1300" b="1">
                <a:solidFill>
                  <a:srgbClr val="00F5D4"/>
                </a:solidFill>
                <a:latin typeface="Arial"/>
              </a:defRPr>
            </a:pPr>
            <a:r>
              <a:t>2. The Role of Salt</a:t>
            </a:r>
          </a:p>
        </p:txBody>
      </p:sp>
      <p:sp>
        <p:nvSpPr>
          <p:cNvPr id="12" name="TextBox 11"/>
          <p:cNvSpPr txBox="1"/>
          <p:nvPr/>
        </p:nvSpPr>
        <p:spPr>
          <a:xfrm>
            <a:off x="4608576" y="2011680"/>
            <a:ext cx="2962656" cy="4114800"/>
          </a:xfrm>
          <a:prstGeom prst="rect">
            <a:avLst/>
          </a:prstGeom>
          <a:noFill/>
        </p:spPr>
        <p:txBody>
          <a:bodyPr wrap="square">
            <a:spAutoFit/>
          </a:bodyPr>
          <a:lstStyle/>
          <a:p>
            <a:pPr>
              <a:spcAft>
                <a:spcPts val="200"/>
              </a:spcAft>
              <a:defRPr sz="1100" b="1" i="0">
                <a:solidFill>
                  <a:srgbClr val="00F5D4"/>
                </a:solidFill>
                <a:latin typeface="Arial"/>
              </a:defRPr>
            </a:pPr>
            <a:r>
              <a:t>• 16-Byte Cryptographic Salt:</a:t>
            </a:r>
          </a:p>
          <a:p>
            <a:pPr>
              <a:spcAft>
                <a:spcPts val="800"/>
              </a:spcAft>
              <a:defRPr sz="1000" b="0" i="0">
                <a:solidFill>
                  <a:srgbClr val="F5F7FA"/>
                </a:solidFill>
                <a:latin typeface="Arial"/>
              </a:defRPr>
            </a:pPr>
            <a:r>
              <a:t>A unique random salt generated per user via crypto.getRandomValues().</a:t>
            </a:r>
          </a:p>
          <a:p>
            <a:pPr>
              <a:spcAft>
                <a:spcPts val="200"/>
              </a:spcAft>
              <a:defRPr sz="1100" b="1" i="0">
                <a:solidFill>
                  <a:srgbClr val="00F5D4"/>
                </a:solidFill>
                <a:latin typeface="Arial"/>
              </a:defRPr>
            </a:pPr>
            <a:r>
              <a:t>• Stored Digest Uniqueness:</a:t>
            </a:r>
          </a:p>
          <a:p>
            <a:pPr>
              <a:spcAft>
                <a:spcPts val="800"/>
              </a:spcAft>
              <a:defRPr sz="1000" b="0" i="0">
                <a:solidFill>
                  <a:srgbClr val="F5F7FA"/>
                </a:solidFill>
                <a:latin typeface="Arial"/>
              </a:defRPr>
            </a:pPr>
            <a:r>
              <a:t>A sufficiently large random salt makes identical passwords overwhelmingly likely to produce different stored verifier values.</a:t>
            </a:r>
          </a:p>
          <a:p>
            <a:pPr>
              <a:spcAft>
                <a:spcPts val="200"/>
              </a:spcAft>
              <a:defRPr sz="1100" b="1" i="0">
                <a:solidFill>
                  <a:srgbClr val="00F5D4"/>
                </a:solidFill>
                <a:latin typeface="Arial"/>
              </a:defRPr>
            </a:pPr>
            <a:r>
              <a:t>• Neutralizes Rainbow Tables:</a:t>
            </a:r>
          </a:p>
          <a:p>
            <a:pPr>
              <a:spcAft>
                <a:spcPts val="800"/>
              </a:spcAft>
              <a:defRPr sz="1000" b="0" i="0">
                <a:solidFill>
                  <a:srgbClr val="F5F7FA"/>
                </a:solidFill>
                <a:latin typeface="Arial"/>
              </a:defRPr>
            </a:pPr>
            <a:r>
              <a:t>Unique salts make traditional precomputed rainbow-table attacks impractical across many users.</a:t>
            </a:r>
          </a:p>
          <a:p>
            <a:pPr>
              <a:spcAft>
                <a:spcPts val="200"/>
              </a:spcAft>
              <a:defRPr sz="1100" b="1" i="0">
                <a:solidFill>
                  <a:srgbClr val="00F5D4"/>
                </a:solidFill>
                <a:latin typeface="Arial"/>
              </a:defRPr>
            </a:pPr>
            <a:r>
              <a:t>• Independent Attacks Required:</a:t>
            </a:r>
          </a:p>
          <a:p>
            <a:pPr>
              <a:defRPr sz="1000" b="0" i="0">
                <a:solidFill>
                  <a:srgbClr val="F5F7FA"/>
                </a:solidFill>
                <a:latin typeface="Arial"/>
              </a:defRPr>
            </a:pPr>
            <a:r>
              <a:t>Attackers must spend computational budget attacking each account separately.</a:t>
            </a:r>
          </a:p>
        </p:txBody>
      </p:sp>
      <p:sp>
        <p:nvSpPr>
          <p:cNvPr id="13" name="Rounded Rectangle 12"/>
          <p:cNvSpPr/>
          <p:nvPr/>
        </p:nvSpPr>
        <p:spPr>
          <a:xfrm>
            <a:off x="8119872" y="1325880"/>
            <a:ext cx="3328416" cy="5029200"/>
          </a:xfrm>
          <a:prstGeom prst="roundRect">
            <a:avLst>
              <a:gd name="adj" fmla="val 3500"/>
            </a:avLst>
          </a:prstGeom>
          <a:solidFill>
            <a:srgbClr val="16213E"/>
          </a:solidFill>
          <a:ln w="19050">
            <a:solidFill>
              <a:srgbClr val="38D9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56448" y="1362456"/>
            <a:ext cx="3255264"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94192" y="1435608"/>
            <a:ext cx="2779776" cy="365760"/>
          </a:xfrm>
          <a:prstGeom prst="rect">
            <a:avLst/>
          </a:prstGeom>
          <a:noFill/>
        </p:spPr>
        <p:txBody>
          <a:bodyPr wrap="square" lIns="0" tIns="0" rIns="0" bIns="0">
            <a:spAutoFit/>
          </a:bodyPr>
          <a:lstStyle/>
          <a:p>
            <a:pPr>
              <a:defRPr sz="1300" b="1">
                <a:solidFill>
                  <a:srgbClr val="38D98A"/>
                </a:solidFill>
                <a:latin typeface="Arial"/>
              </a:defRPr>
            </a:pPr>
            <a:r>
              <a:t>3. Production Standards</a:t>
            </a:r>
          </a:p>
        </p:txBody>
      </p:sp>
      <p:sp>
        <p:nvSpPr>
          <p:cNvPr id="16" name="TextBox 15"/>
          <p:cNvSpPr txBox="1"/>
          <p:nvPr/>
        </p:nvSpPr>
        <p:spPr>
          <a:xfrm>
            <a:off x="8302752" y="2011680"/>
            <a:ext cx="2962656" cy="4114800"/>
          </a:xfrm>
          <a:prstGeom prst="rect">
            <a:avLst/>
          </a:prstGeom>
          <a:noFill/>
        </p:spPr>
        <p:txBody>
          <a:bodyPr wrap="square">
            <a:spAutoFit/>
          </a:bodyPr>
          <a:lstStyle/>
          <a:p>
            <a:pPr>
              <a:spcAft>
                <a:spcPts val="200"/>
              </a:spcAft>
              <a:defRPr sz="1100" b="1" i="0">
                <a:solidFill>
                  <a:srgbClr val="FFBE0B"/>
                </a:solidFill>
                <a:latin typeface="Arial"/>
              </a:defRPr>
            </a:pPr>
            <a:r>
              <a:t>• Educational Demo Notice:</a:t>
            </a:r>
          </a:p>
          <a:p>
            <a:pPr>
              <a:spcAft>
                <a:spcPts val="800"/>
              </a:spcAft>
              <a:defRPr sz="1000" b="0" i="0">
                <a:solidFill>
                  <a:srgbClr val="F5F7FA"/>
                </a:solidFill>
                <a:latin typeface="Arial"/>
              </a:defRPr>
            </a:pPr>
            <a:r>
              <a:t>SHA-256 is used in PasswordGuard strictly for browser demonstration and educational clarity.</a:t>
            </a:r>
          </a:p>
          <a:p>
            <a:pPr>
              <a:spcAft>
                <a:spcPts val="200"/>
              </a:spcAft>
              <a:defRPr sz="1100" b="1" i="0">
                <a:solidFill>
                  <a:srgbClr val="FFBE0B"/>
                </a:solidFill>
                <a:latin typeface="Arial"/>
              </a:defRPr>
            </a:pPr>
            <a:r>
              <a:t>• Raw Fast Hashes Unsuitable:</a:t>
            </a:r>
          </a:p>
          <a:p>
            <a:pPr>
              <a:spcAft>
                <a:spcPts val="800"/>
              </a:spcAft>
              <a:defRPr sz="1000" b="0" i="0">
                <a:solidFill>
                  <a:srgbClr val="F5F7FA"/>
                </a:solidFill>
                <a:latin typeface="Arial"/>
              </a:defRPr>
            </a:pPr>
            <a:r>
              <a:t>Raw SHA-256 is not appropriate for production password storage because it lacks memory-hardness.</a:t>
            </a:r>
          </a:p>
          <a:p>
            <a:pPr>
              <a:spcAft>
                <a:spcPts val="200"/>
              </a:spcAft>
              <a:defRPr sz="1100" b="1" i="0">
                <a:solidFill>
                  <a:srgbClr val="38D98A"/>
                </a:solidFill>
                <a:latin typeface="Arial"/>
              </a:defRPr>
            </a:pPr>
            <a:r>
              <a:t>• Password-Focused KDFs:</a:t>
            </a:r>
          </a:p>
          <a:p>
            <a:pPr>
              <a:spcAft>
                <a:spcPts val="800"/>
              </a:spcAft>
              <a:defRPr sz="1000" b="0" i="0">
                <a:solidFill>
                  <a:srgbClr val="F5F7FA"/>
                </a:solidFill>
                <a:latin typeface="Arial"/>
              </a:defRPr>
            </a:pPr>
            <a:r>
              <a:t>Production systems should use dedicated functions: Argon2id (IETF RFC 9106), bcrypt, scrypt, or PBKDF2.</a:t>
            </a:r>
          </a:p>
          <a:p>
            <a:pPr>
              <a:spcAft>
                <a:spcPts val="200"/>
              </a:spcAft>
              <a:defRPr sz="1100" b="1" i="0">
                <a:solidFill>
                  <a:srgbClr val="38D98A"/>
                </a:solidFill>
                <a:latin typeface="Arial"/>
              </a:defRPr>
            </a:pPr>
            <a:r>
              <a:t>• Work Factor Tuning:</a:t>
            </a:r>
          </a:p>
          <a:p>
            <a:pPr>
              <a:defRPr sz="1000" b="0" i="0">
                <a:solidFill>
                  <a:srgbClr val="F5F7FA"/>
                </a:solidFill>
                <a:latin typeface="Arial"/>
              </a:defRPr>
            </a:pPr>
            <a:r>
              <a:t>Dedicated KDFs deliberately increase the time and memory cost of each guess.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EVALUATION METHODOLOGY</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Experimental Design: Controlled Evaluation of Heuristic Behavior</a:t>
            </a:r>
          </a:p>
        </p:txBody>
      </p:sp>
      <p:sp>
        <p:nvSpPr>
          <p:cNvPr id="5" name="Rounded Rectangle 4"/>
          <p:cNvSpPr/>
          <p:nvPr/>
        </p:nvSpPr>
        <p:spPr>
          <a:xfrm>
            <a:off x="731520" y="1325880"/>
            <a:ext cx="4754880" cy="5029200"/>
          </a:xfrm>
          <a:prstGeom prst="roundRect">
            <a:avLst>
              <a:gd name="adj" fmla="val 3500"/>
            </a:avLst>
          </a:prstGeom>
          <a:solidFill>
            <a:srgbClr val="16213E"/>
          </a:solidFill>
          <a:ln w="19050">
            <a:solidFill>
              <a:srgbClr val="3A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468172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4206240" cy="365760"/>
          </a:xfrm>
          <a:prstGeom prst="rect">
            <a:avLst/>
          </a:prstGeom>
          <a:noFill/>
        </p:spPr>
        <p:txBody>
          <a:bodyPr wrap="square" lIns="0" tIns="0" rIns="0" bIns="0">
            <a:spAutoFit/>
          </a:bodyPr>
          <a:lstStyle/>
          <a:p>
            <a:pPr>
              <a:defRPr sz="1300" b="1">
                <a:solidFill>
                  <a:srgbClr val="3A86FF"/>
                </a:solidFill>
                <a:latin typeface="Arial"/>
              </a:defRPr>
            </a:pPr>
            <a:r>
              <a:t>Experimental Protocol &amp; Ethics</a:t>
            </a:r>
          </a:p>
        </p:txBody>
      </p:sp>
      <p:sp>
        <p:nvSpPr>
          <p:cNvPr id="8" name="TextBox 7"/>
          <p:cNvSpPr txBox="1"/>
          <p:nvPr/>
        </p:nvSpPr>
        <p:spPr>
          <a:xfrm>
            <a:off x="960120" y="2011680"/>
            <a:ext cx="4297680" cy="4114800"/>
          </a:xfrm>
          <a:prstGeom prst="rect">
            <a:avLst/>
          </a:prstGeom>
          <a:noFill/>
        </p:spPr>
        <p:txBody>
          <a:bodyPr wrap="square">
            <a:spAutoFit/>
          </a:bodyPr>
          <a:lstStyle/>
          <a:p>
            <a:pPr>
              <a:spcAft>
                <a:spcPts val="200"/>
              </a:spcAft>
              <a:defRPr sz="1100" b="1" i="0">
                <a:solidFill>
                  <a:srgbClr val="FFBE0B"/>
                </a:solidFill>
                <a:latin typeface="Arial"/>
              </a:defRPr>
            </a:pPr>
            <a:r>
              <a:t>• Synthetic Dataset (N = 150):</a:t>
            </a:r>
          </a:p>
          <a:p>
            <a:pPr>
              <a:spcAft>
                <a:spcPts val="800"/>
              </a:spcAft>
              <a:defRPr sz="1000" b="0" i="0">
                <a:solidFill>
                  <a:srgbClr val="F5F7FA"/>
                </a:solidFill>
                <a:latin typeface="Arial"/>
              </a:defRPr>
            </a:pPr>
            <a:r>
              <a:t>Evaluates internal scoring consistency across five controlled structural categories (n = 30 samples each).</a:t>
            </a:r>
          </a:p>
          <a:p>
            <a:pPr>
              <a:spcAft>
                <a:spcPts val="200"/>
              </a:spcAft>
              <a:defRPr sz="1100" b="1" i="0">
                <a:solidFill>
                  <a:srgbClr val="FFBE0B"/>
                </a:solidFill>
                <a:latin typeface="Arial"/>
              </a:defRPr>
            </a:pPr>
            <a:r>
              <a:t>• Research Ethics Compliance:</a:t>
            </a:r>
          </a:p>
          <a:p>
            <a:pPr>
              <a:spcAft>
                <a:spcPts val="800"/>
              </a:spcAft>
              <a:defRPr sz="1000" b="0" i="0">
                <a:solidFill>
                  <a:srgbClr val="F5F7FA"/>
                </a:solidFill>
                <a:latin typeface="Arial"/>
              </a:defRPr>
            </a:pPr>
            <a:r>
              <a:t>Strictly zero real user credentials and zero breached databases used, complying with Menlo Report ethics guidelines.</a:t>
            </a:r>
          </a:p>
          <a:p>
            <a:pPr>
              <a:spcAft>
                <a:spcPts val="200"/>
              </a:spcAft>
              <a:defRPr sz="1100" b="1" i="0">
                <a:solidFill>
                  <a:srgbClr val="FFBE0B"/>
                </a:solidFill>
                <a:latin typeface="Arial"/>
              </a:defRPr>
            </a:pPr>
            <a:r>
              <a:t>• Controlled Heuristic Evaluation:</a:t>
            </a:r>
          </a:p>
          <a:p>
            <a:pPr>
              <a:spcAft>
                <a:spcPts val="800"/>
              </a:spcAft>
              <a:defRPr sz="1000" b="0" i="0">
                <a:solidFill>
                  <a:srgbClr val="F5F7FA"/>
                </a:solidFill>
                <a:latin typeface="Arial"/>
              </a:defRPr>
            </a:pPr>
            <a:r>
              <a:t>The experiment evaluates how consistently the scoring rules respond to structural variations. It is NOT an external cracking benchmark.</a:t>
            </a:r>
          </a:p>
          <a:p>
            <a:pPr>
              <a:spcAft>
                <a:spcPts val="200"/>
              </a:spcAft>
              <a:defRPr sz="1100" b="1" i="0">
                <a:solidFill>
                  <a:srgbClr val="FFBE0B"/>
                </a:solidFill>
                <a:latin typeface="Arial"/>
              </a:defRPr>
            </a:pPr>
            <a:r>
              <a:t>• Automated Test Harness:</a:t>
            </a:r>
          </a:p>
          <a:p>
            <a:pPr>
              <a:defRPr sz="1000" b="0" i="0">
                <a:solidFill>
                  <a:srgbClr val="F5F7FA"/>
                </a:solidFill>
                <a:latin typeface="Arial"/>
              </a:defRPr>
            </a:pPr>
            <a:r>
              <a:t>Node.js batch runner processes all 150 samples deterministically, exporting full score breakdowns and entropy estimates.</a:t>
            </a:r>
          </a:p>
        </p:txBody>
      </p:sp>
      <p:sp>
        <p:nvSpPr>
          <p:cNvPr id="9" name="Rounded Rectangle 8"/>
          <p:cNvSpPr/>
          <p:nvPr/>
        </p:nvSpPr>
        <p:spPr>
          <a:xfrm>
            <a:off x="5852160" y="1325880"/>
            <a:ext cx="5608015" cy="5029200"/>
          </a:xfrm>
          <a:prstGeom prst="roundRect">
            <a:avLst>
              <a:gd name="adj" fmla="val 3500"/>
            </a:avLst>
          </a:prstGeom>
          <a:solidFill>
            <a:srgbClr val="16213E"/>
          </a:solidFill>
          <a:ln w="19050">
            <a:solidFill>
              <a:srgbClr val="00F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88736" y="1362456"/>
            <a:ext cx="5534863"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1435608"/>
            <a:ext cx="5059375" cy="365760"/>
          </a:xfrm>
          <a:prstGeom prst="rect">
            <a:avLst/>
          </a:prstGeom>
          <a:noFill/>
        </p:spPr>
        <p:txBody>
          <a:bodyPr wrap="square" lIns="0" tIns="0" rIns="0" bIns="0">
            <a:spAutoFit/>
          </a:bodyPr>
          <a:lstStyle/>
          <a:p>
            <a:pPr>
              <a:defRPr sz="1300" b="1">
                <a:solidFill>
                  <a:srgbClr val="00F5D4"/>
                </a:solidFill>
                <a:latin typeface="Arial"/>
              </a:defRPr>
            </a:pPr>
            <a:r>
              <a:t>The 5 Synthetic Password Categories (n = 30 each)</a:t>
            </a:r>
          </a:p>
        </p:txBody>
      </p:sp>
      <p:sp>
        <p:nvSpPr>
          <p:cNvPr id="12" name="TextBox 11"/>
          <p:cNvSpPr txBox="1"/>
          <p:nvPr/>
        </p:nvSpPr>
        <p:spPr>
          <a:xfrm>
            <a:off x="6080760" y="2011680"/>
            <a:ext cx="5120640" cy="4114800"/>
          </a:xfrm>
          <a:prstGeom prst="rect">
            <a:avLst/>
          </a:prstGeom>
          <a:noFill/>
        </p:spPr>
        <p:txBody>
          <a:bodyPr wrap="square">
            <a:spAutoFit/>
          </a:bodyPr>
          <a:lstStyle/>
          <a:p>
            <a:pPr>
              <a:spcAft>
                <a:spcPts val="200"/>
              </a:spcAft>
              <a:defRPr sz="1100" b="1" i="0">
                <a:solidFill>
                  <a:srgbClr val="FFBE0B"/>
                </a:solidFill>
                <a:latin typeface="Arial"/>
              </a:defRPr>
            </a:pPr>
            <a:r>
              <a:t>Category A — Short Simple (3–5 chars)</a:t>
            </a:r>
          </a:p>
          <a:p>
            <a:pPr>
              <a:spcAft>
                <a:spcPts val="600"/>
              </a:spcAft>
              <a:defRPr sz="1000" b="0" i="0">
                <a:solidFill>
                  <a:srgbClr val="F5F7FA"/>
                </a:solidFill>
                <a:latin typeface="Courier New"/>
              </a:defRPr>
            </a:pPr>
            <a:r>
              <a:t>Examples: 'cat', 'red2', 'sky9'</a:t>
            </a:r>
            <a:br/>
            <a:r>
              <a:t>Design: Minimal length, single pool, tiny combinatorial space.</a:t>
            </a:r>
          </a:p>
          <a:p>
            <a:pPr>
              <a:spcAft>
                <a:spcPts val="200"/>
              </a:spcAft>
              <a:defRPr sz="1100" b="1" i="0">
                <a:solidFill>
                  <a:srgbClr val="FFBE0B"/>
                </a:solidFill>
                <a:latin typeface="Arial"/>
              </a:defRPr>
            </a:pPr>
            <a:r>
              <a:t>Category B — Common Pattern (8–12 chars)</a:t>
            </a:r>
          </a:p>
          <a:p>
            <a:pPr>
              <a:spcAft>
                <a:spcPts val="600"/>
              </a:spcAft>
              <a:defRPr sz="1000" b="0" i="0">
                <a:solidFill>
                  <a:srgbClr val="F5F7FA"/>
                </a:solidFill>
                <a:latin typeface="Courier New"/>
              </a:defRPr>
            </a:pPr>
            <a:r>
              <a:t>Examples: 'password123', 'admin2024!', 'Summer2023!'</a:t>
            </a:r>
            <a:br/>
            <a:r>
              <a:t>Design: Dictionary roots, sequential digits, leetspeak, punctuation.</a:t>
            </a:r>
          </a:p>
          <a:p>
            <a:pPr>
              <a:spcAft>
                <a:spcPts val="200"/>
              </a:spcAft>
              <a:defRPr sz="1100" b="1" i="0">
                <a:solidFill>
                  <a:srgbClr val="FFBE0B"/>
                </a:solidFill>
                <a:latin typeface="Arial"/>
              </a:defRPr>
            </a:pPr>
            <a:r>
              <a:t>Category C — Medium Complexity (11–15 chars)</a:t>
            </a:r>
          </a:p>
          <a:p>
            <a:pPr>
              <a:spcAft>
                <a:spcPts val="600"/>
              </a:spcAft>
              <a:defRPr sz="1000" b="0" i="0">
                <a:solidFill>
                  <a:srgbClr val="F5F7FA"/>
                </a:solidFill>
                <a:latin typeface="Courier New"/>
              </a:defRPr>
            </a:pPr>
            <a:r>
              <a:t>Examples: 'BlueSky#49', 'Silver!Fox82', 'GreenForest*21'</a:t>
            </a:r>
            <a:br/>
            <a:r>
              <a:t>Design: Traditional enterprise complexity rules (mixed case, numbers, symbols).</a:t>
            </a:r>
          </a:p>
          <a:p>
            <a:pPr>
              <a:spcAft>
                <a:spcPts val="200"/>
              </a:spcAft>
              <a:defRPr sz="1100" b="1" i="0">
                <a:solidFill>
                  <a:srgbClr val="FFBE0B"/>
                </a:solidFill>
                <a:latin typeface="Arial"/>
              </a:defRPr>
            </a:pPr>
            <a:r>
              <a:t>Category D — Long Passphrases (25–36 chars)</a:t>
            </a:r>
          </a:p>
          <a:p>
            <a:pPr>
              <a:spcAft>
                <a:spcPts val="600"/>
              </a:spcAft>
              <a:defRPr sz="1000" b="0" i="0">
                <a:solidFill>
                  <a:srgbClr val="F5F7FA"/>
                </a:solidFill>
                <a:latin typeface="Courier New"/>
              </a:defRPr>
            </a:pPr>
            <a:r>
              <a:t>Examples: 'correct-horse-battery-staple', 'apple-mountain-river-winter'</a:t>
            </a:r>
            <a:br/>
            <a:r>
              <a:t>Design: Multi-word sequences with hyphens; large length, low alphabet diversity.</a:t>
            </a:r>
          </a:p>
          <a:p>
            <a:pPr>
              <a:spcAft>
                <a:spcPts val="200"/>
              </a:spcAft>
              <a:defRPr sz="1100" b="1" i="0">
                <a:solidFill>
                  <a:srgbClr val="FFBE0B"/>
                </a:solidFill>
                <a:latin typeface="Arial"/>
              </a:defRPr>
            </a:pPr>
            <a:r>
              <a:t>Category E — Long Random (16 chars)</a:t>
            </a:r>
          </a:p>
          <a:p>
            <a:pPr>
              <a:spcAft>
                <a:spcPts val="600"/>
              </a:spcAft>
              <a:defRPr sz="1000" b="0" i="0">
                <a:solidFill>
                  <a:srgbClr val="F5F7FA"/>
                </a:solidFill>
                <a:latin typeface="Courier New"/>
              </a:defRPr>
            </a:pPr>
            <a:r>
              <a:t>Examples: '7$zW#9!kLp&amp;2Qx@m', 'k9#mP$2vL&amp;8xQ!zR'</a:t>
            </a:r>
            <a:br/>
            <a:r>
              <a:t>Design: Pseudo-random selection across all 95 printable ASCII characters.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EMPIRICAL FINDINGS</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Experimental Results: Quantitative Observations Across Categories</a:t>
            </a:r>
          </a:p>
        </p:txBody>
      </p:sp>
      <p:sp>
        <p:nvSpPr>
          <p:cNvPr id="5" name="Rounded Rectangle 4"/>
          <p:cNvSpPr/>
          <p:nvPr/>
        </p:nvSpPr>
        <p:spPr>
          <a:xfrm>
            <a:off x="731520" y="1325880"/>
            <a:ext cx="5486400" cy="5029200"/>
          </a:xfrm>
          <a:prstGeom prst="roundRect">
            <a:avLst>
              <a:gd name="adj" fmla="val 3500"/>
            </a:avLst>
          </a:prstGeom>
          <a:solidFill>
            <a:srgbClr val="16213E"/>
          </a:solidFill>
          <a:ln w="19050">
            <a:solidFill>
              <a:srgbClr val="3A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541324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4937760" cy="365760"/>
          </a:xfrm>
          <a:prstGeom prst="rect">
            <a:avLst/>
          </a:prstGeom>
          <a:noFill/>
        </p:spPr>
        <p:txBody>
          <a:bodyPr wrap="square" lIns="0" tIns="0" rIns="0" bIns="0">
            <a:spAutoFit/>
          </a:bodyPr>
          <a:lstStyle/>
          <a:p>
            <a:pPr>
              <a:defRPr sz="1300" b="1">
                <a:solidFill>
                  <a:srgbClr val="3A86FF"/>
                </a:solidFill>
                <a:latin typeface="Arial"/>
              </a:defRPr>
            </a:pPr>
            <a:r>
              <a:t>Score Distribution by Category</a:t>
            </a:r>
          </a:p>
        </p:txBody>
      </p:sp>
      <p:sp>
        <p:nvSpPr>
          <p:cNvPr id="8" name="Rounded Rectangle 7"/>
          <p:cNvSpPr/>
          <p:nvPr/>
        </p:nvSpPr>
        <p:spPr>
          <a:xfrm>
            <a:off x="960120" y="2011680"/>
            <a:ext cx="5029200" cy="4069080"/>
          </a:xfrm>
          <a:prstGeom prst="roundRect">
            <a:avLst>
              <a:gd name="adj" fmla="val 3000"/>
            </a:avLst>
          </a:prstGeom>
          <a:solidFill>
            <a:srgbClr val="FFFFFF"/>
          </a:solidFill>
          <a:ln w="12700">
            <a:solidFill>
              <a:srgbClr val="C8D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_category_scores.png"/>
          <p:cNvPicPr>
            <a:picLocks noChangeAspect="1"/>
          </p:cNvPicPr>
          <p:nvPr/>
        </p:nvPicPr>
        <p:blipFill>
          <a:blip r:embed="rId2"/>
          <a:stretch>
            <a:fillRect/>
          </a:stretch>
        </p:blipFill>
        <p:spPr>
          <a:xfrm>
            <a:off x="1051560" y="2148840"/>
            <a:ext cx="4846320" cy="2833233"/>
          </a:xfrm>
          <a:prstGeom prst="rect">
            <a:avLst/>
          </a:prstGeom>
        </p:spPr>
      </p:pic>
      <p:sp>
        <p:nvSpPr>
          <p:cNvPr id="10" name="Rounded Rectangle 9"/>
          <p:cNvSpPr/>
          <p:nvPr/>
        </p:nvSpPr>
        <p:spPr>
          <a:xfrm>
            <a:off x="6583680" y="1325880"/>
            <a:ext cx="4876495" cy="5029200"/>
          </a:xfrm>
          <a:prstGeom prst="roundRect">
            <a:avLst>
              <a:gd name="adj" fmla="val 3500"/>
            </a:avLst>
          </a:prstGeom>
          <a:solidFill>
            <a:srgbClr val="16213E"/>
          </a:solidFill>
          <a:ln w="19050">
            <a:solidFill>
              <a:srgbClr val="00F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20256" y="1362456"/>
            <a:ext cx="4803343"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435608"/>
            <a:ext cx="4327855" cy="365760"/>
          </a:xfrm>
          <a:prstGeom prst="rect">
            <a:avLst/>
          </a:prstGeom>
          <a:noFill/>
        </p:spPr>
        <p:txBody>
          <a:bodyPr wrap="square" lIns="0" tIns="0" rIns="0" bIns="0">
            <a:spAutoFit/>
          </a:bodyPr>
          <a:lstStyle/>
          <a:p>
            <a:pPr>
              <a:defRPr sz="1300" b="1">
                <a:solidFill>
                  <a:srgbClr val="00F5D4"/>
                </a:solidFill>
                <a:latin typeface="Arial"/>
              </a:defRPr>
            </a:pPr>
            <a:r>
              <a:t>Frozen Results Summary (N = 150)</a:t>
            </a:r>
          </a:p>
        </p:txBody>
      </p:sp>
      <p:sp>
        <p:nvSpPr>
          <p:cNvPr id="13" name="TextBox 12"/>
          <p:cNvSpPr txBox="1"/>
          <p:nvPr/>
        </p:nvSpPr>
        <p:spPr>
          <a:xfrm>
            <a:off x="6812280" y="2011680"/>
            <a:ext cx="4389120" cy="4114800"/>
          </a:xfrm>
          <a:prstGeom prst="rect">
            <a:avLst/>
          </a:prstGeom>
          <a:noFill/>
        </p:spPr>
        <p:txBody>
          <a:bodyPr wrap="square">
            <a:spAutoFit/>
          </a:bodyPr>
          <a:lstStyle/>
          <a:p>
            <a:pPr>
              <a:spcAft>
                <a:spcPts val="400"/>
              </a:spcAft>
              <a:defRPr sz="1200" b="1" i="0">
                <a:solidFill>
                  <a:srgbClr val="FFBE0B"/>
                </a:solidFill>
                <a:latin typeface="Arial"/>
              </a:defRPr>
            </a:pPr>
            <a:r>
              <a:t>Overall Tier Distribution:</a:t>
            </a:r>
          </a:p>
          <a:p>
            <a:pPr>
              <a:spcAft>
                <a:spcPts val="1000"/>
              </a:spcAft>
              <a:defRPr sz="1100" b="0" i="0">
                <a:solidFill>
                  <a:srgbClr val="F5F7FA"/>
                </a:solidFill>
                <a:latin typeface="Courier New"/>
              </a:defRPr>
            </a:pPr>
            <a:r>
              <a:t>• Weak (0–39): 59 / 150 (39.3%)</a:t>
            </a:r>
            <a:br/>
            <a:r>
              <a:t>• Medium (40–69): 12 / 150 (8.0%)</a:t>
            </a:r>
            <a:br/>
            <a:r>
              <a:t>• Strong (70–100): 79 / 150 (52.7%)</a:t>
            </a:r>
          </a:p>
          <a:p>
            <a:pPr>
              <a:spcAft>
                <a:spcPts val="400"/>
              </a:spcAft>
              <a:defRPr sz="1200" b="1" i="0">
                <a:solidFill>
                  <a:srgbClr val="FFBE0B"/>
                </a:solidFill>
                <a:latin typeface="Arial"/>
              </a:defRPr>
            </a:pPr>
            <a:r>
              <a:t>Key Category Observations:</a:t>
            </a:r>
          </a:p>
          <a:p>
            <a:pPr>
              <a:spcAft>
                <a:spcPts val="500"/>
              </a:spcAft>
              <a:defRPr sz="1000" b="0" i="0">
                <a:solidFill>
                  <a:srgbClr val="F5F7FA"/>
                </a:solidFill>
                <a:latin typeface="Arial"/>
              </a:defRPr>
            </a:pPr>
            <a:r>
              <a:t>• Cat E (Long Random): Achieved highest average score: 90.0 / 100. 100% classified as Strong.</a:t>
            </a:r>
          </a:p>
          <a:p>
            <a:pPr>
              <a:spcAft>
                <a:spcPts val="500"/>
              </a:spcAft>
              <a:defRPr sz="1000" b="0" i="0">
                <a:solidFill>
                  <a:srgbClr val="F5F7FA"/>
                </a:solidFill>
                <a:latin typeface="Arial"/>
              </a:defRPr>
            </a:pPr>
            <a:r>
              <a:t>• Cat D (Long Passphrases): Highest theoretical entropy estimate: 182.9 bits (avg len 29.5 chars). 70.0% Strong, 30.0% Medium.</a:t>
            </a:r>
          </a:p>
          <a:p>
            <a:pPr>
              <a:spcAft>
                <a:spcPts val="500"/>
              </a:spcAft>
              <a:defRPr sz="1000" b="0" i="0">
                <a:solidFill>
                  <a:srgbClr val="F5F7FA"/>
                </a:solidFill>
                <a:latin typeface="Arial"/>
              </a:defRPr>
            </a:pPr>
            <a:r>
              <a:t>• Cat C (Medium Complexity): Average score 80.8 / 100; 93.3% Strong, 6.7% Medium.</a:t>
            </a:r>
          </a:p>
          <a:p>
            <a:pPr>
              <a:spcAft>
                <a:spcPts val="500"/>
              </a:spcAft>
              <a:defRPr sz="1000" b="0" i="0">
                <a:solidFill>
                  <a:srgbClr val="F5F7FA"/>
                </a:solidFill>
                <a:latin typeface="Arial"/>
              </a:defRPr>
            </a:pPr>
            <a:r>
              <a:t>• Cat B (Common Pattern): Average score collapsed to 10.5 / 100 (96.7% Weak) due to pattern penalties despite containing symbols.</a:t>
            </a:r>
          </a:p>
          <a:p>
            <a:pPr>
              <a:spcAft>
                <a:spcPts val="500"/>
              </a:spcAft>
              <a:defRPr sz="1000" b="0" i="0">
                <a:solidFill>
                  <a:srgbClr val="F5F7FA"/>
                </a:solidFill>
                <a:latin typeface="Arial"/>
              </a:defRPr>
            </a:pPr>
            <a:r>
              <a:t>• Cat A (Short Simple): Lowest score: 2.0 / 100 (100% Weak).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274320"/>
          </a:xfrm>
          <a:prstGeom prst="rect">
            <a:avLst/>
          </a:prstGeom>
          <a:noFill/>
        </p:spPr>
        <p:txBody>
          <a:bodyPr wrap="square" lIns="0" tIns="0" rIns="0" bIns="0">
            <a:spAutoFit/>
          </a:bodyPr>
          <a:lstStyle/>
          <a:p>
            <a:pPr>
              <a:defRPr sz="1000" b="1">
                <a:solidFill>
                  <a:srgbClr val="00F5D4"/>
                </a:solidFill>
                <a:latin typeface="Arial"/>
              </a:defRPr>
            </a:pPr>
            <a:r>
              <a:t>SUMMARY &amp; CONCLUSION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F5F7FA"/>
                </a:solidFill>
                <a:latin typeface="Arial"/>
              </a:defRPr>
            </a:pPr>
            <a:r>
              <a:t>Academic Limitations, Core Takeaways, and Conclusion</a:t>
            </a:r>
          </a:p>
        </p:txBody>
      </p:sp>
      <p:sp>
        <p:nvSpPr>
          <p:cNvPr id="5" name="Rounded Rectangle 4"/>
          <p:cNvSpPr/>
          <p:nvPr/>
        </p:nvSpPr>
        <p:spPr>
          <a:xfrm>
            <a:off x="731520" y="1325880"/>
            <a:ext cx="5120640" cy="3931920"/>
          </a:xfrm>
          <a:prstGeom prst="roundRect">
            <a:avLst>
              <a:gd name="adj" fmla="val 3500"/>
            </a:avLst>
          </a:prstGeom>
          <a:solidFill>
            <a:srgbClr val="16213E"/>
          </a:solidFill>
          <a:ln w="19050">
            <a:solidFill>
              <a:srgbClr val="FFB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8096" y="1362456"/>
            <a:ext cx="5047488"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35608"/>
            <a:ext cx="4572000" cy="365760"/>
          </a:xfrm>
          <a:prstGeom prst="rect">
            <a:avLst/>
          </a:prstGeom>
          <a:noFill/>
        </p:spPr>
        <p:txBody>
          <a:bodyPr wrap="square" lIns="0" tIns="0" rIns="0" bIns="0">
            <a:spAutoFit/>
          </a:bodyPr>
          <a:lstStyle/>
          <a:p>
            <a:pPr>
              <a:defRPr sz="1300" b="1">
                <a:solidFill>
                  <a:srgbClr val="FFBE0B"/>
                </a:solidFill>
                <a:latin typeface="Arial"/>
              </a:defRPr>
            </a:pPr>
            <a:r>
              <a:t>Academic &amp; Methodological Limitations</a:t>
            </a:r>
          </a:p>
        </p:txBody>
      </p:sp>
      <p:sp>
        <p:nvSpPr>
          <p:cNvPr id="8" name="TextBox 7"/>
          <p:cNvSpPr txBox="1"/>
          <p:nvPr/>
        </p:nvSpPr>
        <p:spPr>
          <a:xfrm>
            <a:off x="960120" y="2011680"/>
            <a:ext cx="4663440" cy="3108960"/>
          </a:xfrm>
          <a:prstGeom prst="rect">
            <a:avLst/>
          </a:prstGeom>
          <a:noFill/>
        </p:spPr>
        <p:txBody>
          <a:bodyPr wrap="square">
            <a:spAutoFit/>
          </a:bodyPr>
          <a:lstStyle/>
          <a:p>
            <a:pPr>
              <a:spcAft>
                <a:spcPts val="600"/>
              </a:spcAft>
              <a:defRPr sz="1000" b="0" i="0">
                <a:solidFill>
                  <a:srgbClr val="F5F7FA"/>
                </a:solidFill>
                <a:latin typeface="Arial"/>
              </a:defRPr>
            </a:pPr>
            <a:r>
              <a:t>• Circularity Constraint: The experiment evaluates internal heuristic consistency rather than real-world cracking resistance.</a:t>
            </a:r>
          </a:p>
          <a:p>
            <a:pPr>
              <a:spcAft>
                <a:spcPts val="600"/>
              </a:spcAft>
              <a:defRPr sz="1000" b="0" i="0">
                <a:solidFill>
                  <a:srgbClr val="F5F7FA"/>
                </a:solidFill>
                <a:latin typeface="Arial"/>
              </a:defRPr>
            </a:pPr>
            <a:r>
              <a:t>• Synthetic Dataset Scope: 150 synthetic samples isolate structural rules, but do not capture the full variety of real user passwords.</a:t>
            </a:r>
          </a:p>
          <a:p>
            <a:pPr>
              <a:spcAft>
                <a:spcPts val="600"/>
              </a:spcAft>
              <a:defRPr sz="1000" b="0" i="0">
                <a:solidFill>
                  <a:srgbClr val="F5F7FA"/>
                </a:solidFill>
                <a:latin typeface="Arial"/>
              </a:defRPr>
            </a:pPr>
            <a:r>
              <a:t>• Theoretical Entropy Bounds: The metric E = L × log₂(R) assumes ideal uniform random selection, whereas human passwords exhibit predictable habits.</a:t>
            </a:r>
          </a:p>
          <a:p>
            <a:pPr>
              <a:defRPr sz="1000" b="0" i="0">
                <a:solidFill>
                  <a:srgbClr val="F5F7FA"/>
                </a:solidFill>
                <a:latin typeface="Arial"/>
              </a:defRPr>
            </a:pPr>
            <a:r>
              <a:t>• Illustrative Guessing Rates: The 100, 10⁷, and 10¹¹ guesses/sec models are assumed illustrative scenarios, not physical hardware benchmarks.</a:t>
            </a:r>
          </a:p>
        </p:txBody>
      </p:sp>
      <p:sp>
        <p:nvSpPr>
          <p:cNvPr id="9" name="Rounded Rectangle 8"/>
          <p:cNvSpPr/>
          <p:nvPr/>
        </p:nvSpPr>
        <p:spPr>
          <a:xfrm>
            <a:off x="6217920" y="1325880"/>
            <a:ext cx="5242255" cy="3931920"/>
          </a:xfrm>
          <a:prstGeom prst="roundRect">
            <a:avLst>
              <a:gd name="adj" fmla="val 3500"/>
            </a:avLst>
          </a:prstGeom>
          <a:solidFill>
            <a:srgbClr val="16213E"/>
          </a:solidFill>
          <a:ln w="19050">
            <a:solidFill>
              <a:srgbClr val="38D9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362456"/>
            <a:ext cx="5169103" cy="502920"/>
          </a:xfrm>
          <a:prstGeom prst="roundRect">
            <a:avLst>
              <a:gd name="adj" fmla="val 3500"/>
            </a:avLst>
          </a:prstGeom>
          <a:solidFill>
            <a:srgbClr val="1C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35608"/>
            <a:ext cx="4693615" cy="365760"/>
          </a:xfrm>
          <a:prstGeom prst="rect">
            <a:avLst/>
          </a:prstGeom>
          <a:noFill/>
        </p:spPr>
        <p:txBody>
          <a:bodyPr wrap="square" lIns="0" tIns="0" rIns="0" bIns="0">
            <a:spAutoFit/>
          </a:bodyPr>
          <a:lstStyle/>
          <a:p>
            <a:pPr>
              <a:defRPr sz="1300" b="1">
                <a:solidFill>
                  <a:srgbClr val="38D98A"/>
                </a:solidFill>
                <a:latin typeface="Arial"/>
              </a:defRPr>
            </a:pPr>
            <a:r>
              <a:t>Core Security Takeaways</a:t>
            </a:r>
          </a:p>
        </p:txBody>
      </p:sp>
      <p:sp>
        <p:nvSpPr>
          <p:cNvPr id="12" name="TextBox 11"/>
          <p:cNvSpPr txBox="1"/>
          <p:nvPr/>
        </p:nvSpPr>
        <p:spPr>
          <a:xfrm>
            <a:off x="6446520" y="2011680"/>
            <a:ext cx="4754880" cy="3108960"/>
          </a:xfrm>
          <a:prstGeom prst="rect">
            <a:avLst/>
          </a:prstGeom>
          <a:noFill/>
        </p:spPr>
        <p:txBody>
          <a:bodyPr wrap="square">
            <a:spAutoFit/>
          </a:bodyPr>
          <a:lstStyle/>
          <a:p>
            <a:pPr>
              <a:spcAft>
                <a:spcPts val="600"/>
              </a:spcAft>
              <a:defRPr sz="1000" b="0" i="0">
                <a:solidFill>
                  <a:srgbClr val="F5F7FA"/>
                </a:solidFill>
                <a:latin typeface="Arial"/>
              </a:defRPr>
            </a:pPr>
            <a:r>
              <a:t>• Length Effect: In simple search-space models, password length provides an exponential advantage (R^L), making passphrases an effective approach.</a:t>
            </a:r>
          </a:p>
          <a:p>
            <a:pPr>
              <a:spcAft>
                <a:spcPts val="600"/>
              </a:spcAft>
              <a:defRPr sz="1000" b="0" i="0">
                <a:solidFill>
                  <a:srgbClr val="F5F7FA"/>
                </a:solidFill>
                <a:latin typeface="Arial"/>
              </a:defRPr>
            </a:pPr>
            <a:r>
              <a:t>• Superficial Complexity Fails: Appending '123!' or capitalizing the first letter does not protect against modern attack tools.</a:t>
            </a:r>
          </a:p>
          <a:p>
            <a:pPr>
              <a:spcAft>
                <a:spcPts val="600"/>
              </a:spcAft>
              <a:defRPr sz="1000" b="0" i="0">
                <a:solidFill>
                  <a:srgbClr val="F5F7FA"/>
                </a:solidFill>
                <a:latin typeface="Arial"/>
              </a:defRPr>
            </a:pPr>
            <a:r>
              <a:t>• Password ≠ Authentication Security: Password strength alone does not stop phishing or credential stuffing; authentication requires defense in depth.</a:t>
            </a:r>
          </a:p>
          <a:p>
            <a:pPr>
              <a:defRPr sz="1000" b="0" i="0">
                <a:solidFill>
                  <a:srgbClr val="F5F7FA"/>
                </a:solidFill>
                <a:latin typeface="Arial"/>
              </a:defRPr>
            </a:pPr>
            <a:r>
              <a:t>• Essential Defense Triad: 1. Password managers for unique credentials. 2. Slow memory-hard hashing (Argon2id). 3. Multi-Factor Authentication (MFA).</a:t>
            </a:r>
          </a:p>
        </p:txBody>
      </p:sp>
      <p:sp>
        <p:nvSpPr>
          <p:cNvPr id="13" name="Rounded Rectangle 12"/>
          <p:cNvSpPr/>
          <p:nvPr/>
        </p:nvSpPr>
        <p:spPr>
          <a:xfrm>
            <a:off x="731520" y="5486400"/>
            <a:ext cx="10728655" cy="914400"/>
          </a:xfrm>
          <a:prstGeom prst="roundRect">
            <a:avLst>
              <a:gd name="adj" fmla="val 4000"/>
            </a:avLst>
          </a:prstGeom>
          <a:solidFill>
            <a:srgbClr val="13203C"/>
          </a:solidFill>
          <a:ln w="19050">
            <a:solidFill>
              <a:srgbClr val="00F5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596128"/>
            <a:ext cx="10149840" cy="685800"/>
          </a:xfrm>
          <a:prstGeom prst="rect">
            <a:avLst/>
          </a:prstGeom>
          <a:noFill/>
        </p:spPr>
        <p:txBody>
          <a:bodyPr wrap="none">
            <a:spAutoFit/>
          </a:bodyPr>
          <a:lstStyle/>
          <a:p>
            <a:pPr algn="ctr">
              <a:defRPr sz="1600" b="1" i="0">
                <a:solidFill>
                  <a:srgbClr val="F5F7FA"/>
                </a:solidFill>
                <a:latin typeface="Arial"/>
              </a:defRPr>
            </a:pPr>
            <a:r>
              <a:t>Thank You for Your Attention!  •  Questions &amp; Answers Welcome</a:t>
            </a:r>
          </a:p>
          <a:p>
            <a:pPr algn="ctr">
              <a:defRPr sz="1100" b="0" i="0">
                <a:solidFill>
                  <a:srgbClr val="00F5D4"/>
                </a:solidFill>
                <a:latin typeface="Arial"/>
              </a:defRPr>
            </a:pPr>
            <a:r>
              <a:t>Repository: ducknhat/password-pro  |  PasswordGuard: Client-Side Educational Security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